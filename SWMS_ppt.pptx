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Arimo"/>
      <p:bold r:id="rId26"/>
      <p:boldItalic r:id="rId27"/>
    </p:embeddedFont>
    <p:embeddedFont>
      <p:font typeface="Ultra"/>
      <p:regular r:id="rId28"/>
    </p:embeddedFont>
    <p:embeddedFont>
      <p:font typeface="Archivo Black"/>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jSeG3XL6yXw0BUW5y64ht9qgmM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322B1B-1D9A-478A-AEE4-EB3A8170A35E}">
  <a:tblStyle styleId="{79322B1B-1D9A-478A-AEE4-EB3A8170A35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imo-bold.fntdata"/><Relationship Id="rId25" Type="http://schemas.openxmlformats.org/officeDocument/2006/relationships/slide" Target="slides/slide19.xml"/><Relationship Id="rId28" Type="http://schemas.openxmlformats.org/officeDocument/2006/relationships/font" Target="fonts/Ultra-regular.fntdata"/><Relationship Id="rId27" Type="http://schemas.openxmlformats.org/officeDocument/2006/relationships/font" Target="fonts/Arim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chivoBlack-regular.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p:nvPr>
            <p:ph idx="2" type="pic"/>
          </p:nvPr>
        </p:nvSpPr>
        <p:spPr>
          <a:xfrm>
            <a:off x="1792288" y="612775"/>
            <a:ext cx="5486400" cy="4114800"/>
          </a:xfrm>
          <a:prstGeom prst="rect">
            <a:avLst/>
          </a:prstGeom>
          <a:noFill/>
          <a:ln>
            <a:noFill/>
          </a:ln>
        </p:spPr>
      </p:sp>
      <p:sp>
        <p:nvSpPr>
          <p:cNvPr id="64" name="Google Shape;64;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83" name="Shape 83"/>
        <p:cNvGrpSpPr/>
        <p:nvPr/>
      </p:nvGrpSpPr>
      <p:grpSpPr>
        <a:xfrm>
          <a:off x="0" y="0"/>
          <a:ext cx="0" cy="0"/>
          <a:chOff x="0" y="0"/>
          <a:chExt cx="0" cy="0"/>
        </a:xfrm>
      </p:grpSpPr>
      <p:grpSp>
        <p:nvGrpSpPr>
          <p:cNvPr id="84" name="Google Shape;84;p1"/>
          <p:cNvGrpSpPr/>
          <p:nvPr/>
        </p:nvGrpSpPr>
        <p:grpSpPr>
          <a:xfrm>
            <a:off x="9086327" y="3943049"/>
            <a:ext cx="8469849" cy="2541882"/>
            <a:chOff x="0" y="-57150"/>
            <a:chExt cx="2230742" cy="669467"/>
          </a:xfrm>
        </p:grpSpPr>
        <p:sp>
          <p:nvSpPr>
            <p:cNvPr id="85" name="Google Shape;85;p1"/>
            <p:cNvSpPr/>
            <p:nvPr/>
          </p:nvSpPr>
          <p:spPr>
            <a:xfrm>
              <a:off x="0" y="0"/>
              <a:ext cx="2230742" cy="612317"/>
            </a:xfrm>
            <a:custGeom>
              <a:rect b="b" l="l" r="r" t="t"/>
              <a:pathLst>
                <a:path extrusionOk="0" h="612317" w="2230742">
                  <a:moveTo>
                    <a:pt x="0" y="0"/>
                  </a:moveTo>
                  <a:lnTo>
                    <a:pt x="2230742" y="0"/>
                  </a:lnTo>
                  <a:lnTo>
                    <a:pt x="2230742" y="612317"/>
                  </a:lnTo>
                  <a:lnTo>
                    <a:pt x="0" y="612317"/>
                  </a:lnTo>
                  <a:close/>
                </a:path>
              </a:pathLst>
            </a:custGeom>
            <a:solidFill>
              <a:srgbClr val="D9DFCE"/>
            </a:solidFill>
            <a:ln>
              <a:noFill/>
            </a:ln>
          </p:spPr>
        </p:sp>
        <p:sp>
          <p:nvSpPr>
            <p:cNvPr id="86" name="Google Shape;86;p1"/>
            <p:cNvSpPr txBox="1"/>
            <p:nvPr/>
          </p:nvSpPr>
          <p:spPr>
            <a:xfrm>
              <a:off x="0" y="-57150"/>
              <a:ext cx="2230742" cy="669467"/>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p:nvPr/>
        </p:nvSpPr>
        <p:spPr>
          <a:xfrm>
            <a:off x="-1159111" y="0"/>
            <a:ext cx="9458430" cy="10287000"/>
          </a:xfrm>
          <a:custGeom>
            <a:rect b="b" l="l" r="r" t="t"/>
            <a:pathLst>
              <a:path extrusionOk="0" h="1593725" w="1465358">
                <a:moveTo>
                  <a:pt x="0" y="0"/>
                </a:moveTo>
                <a:lnTo>
                  <a:pt x="1465358" y="0"/>
                </a:lnTo>
                <a:lnTo>
                  <a:pt x="1465358" y="1593725"/>
                </a:lnTo>
                <a:lnTo>
                  <a:pt x="0" y="1593725"/>
                </a:lnTo>
                <a:close/>
              </a:path>
            </a:pathLst>
          </a:custGeom>
          <a:blipFill rotWithShape="1">
            <a:blip r:embed="rId3">
              <a:alphaModFix/>
            </a:blip>
            <a:stretch>
              <a:fillRect b="0" l="-31438" r="-31438" t="0"/>
            </a:stretch>
          </a:blipFill>
          <a:ln>
            <a:noFill/>
          </a:ln>
        </p:spPr>
      </p:sp>
      <p:cxnSp>
        <p:nvCxnSpPr>
          <p:cNvPr id="88" name="Google Shape;88;p1"/>
          <p:cNvCxnSpPr/>
          <p:nvPr/>
        </p:nvCxnSpPr>
        <p:spPr>
          <a:xfrm>
            <a:off x="9634391" y="570132"/>
            <a:ext cx="7562080" cy="0"/>
          </a:xfrm>
          <a:prstGeom prst="straightConnector1">
            <a:avLst/>
          </a:prstGeom>
          <a:noFill/>
          <a:ln cap="flat" cmpd="sng" w="38100">
            <a:solidFill>
              <a:srgbClr val="577550"/>
            </a:solidFill>
            <a:prstDash val="solid"/>
            <a:round/>
            <a:headEnd len="sm" w="sm" type="none"/>
            <a:tailEnd len="sm" w="sm" type="none"/>
          </a:ln>
        </p:spPr>
      </p:cxnSp>
      <p:cxnSp>
        <p:nvCxnSpPr>
          <p:cNvPr id="89" name="Google Shape;89;p1"/>
          <p:cNvCxnSpPr/>
          <p:nvPr/>
        </p:nvCxnSpPr>
        <p:spPr>
          <a:xfrm>
            <a:off x="9576718" y="3445665"/>
            <a:ext cx="7562080" cy="0"/>
          </a:xfrm>
          <a:prstGeom prst="straightConnector1">
            <a:avLst/>
          </a:prstGeom>
          <a:noFill/>
          <a:ln cap="flat" cmpd="sng" w="38100">
            <a:solidFill>
              <a:srgbClr val="134E1A"/>
            </a:solidFill>
            <a:prstDash val="solid"/>
            <a:round/>
            <a:headEnd len="sm" w="sm" type="none"/>
            <a:tailEnd len="sm" w="sm" type="none"/>
          </a:ln>
        </p:spPr>
      </p:cxnSp>
      <p:sp>
        <p:nvSpPr>
          <p:cNvPr id="90" name="Google Shape;90;p1"/>
          <p:cNvSpPr txBox="1"/>
          <p:nvPr/>
        </p:nvSpPr>
        <p:spPr>
          <a:xfrm>
            <a:off x="9576718" y="379632"/>
            <a:ext cx="7865158" cy="13531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7100" u="none" cap="none" strike="noStrike">
                <a:solidFill>
                  <a:srgbClr val="577550"/>
                </a:solidFill>
                <a:latin typeface="Arial"/>
                <a:ea typeface="Arial"/>
                <a:cs typeface="Arial"/>
                <a:sym typeface="Arial"/>
              </a:rPr>
              <a:t>SMART WASTE </a:t>
            </a:r>
            <a:endParaRPr/>
          </a:p>
        </p:txBody>
      </p:sp>
      <p:sp>
        <p:nvSpPr>
          <p:cNvPr id="91" name="Google Shape;91;p1"/>
          <p:cNvSpPr txBox="1"/>
          <p:nvPr/>
        </p:nvSpPr>
        <p:spPr>
          <a:xfrm>
            <a:off x="9576718" y="1433985"/>
            <a:ext cx="7693185" cy="2125980"/>
          </a:xfrm>
          <a:prstGeom prst="rect">
            <a:avLst/>
          </a:prstGeom>
          <a:noFill/>
          <a:ln>
            <a:noFill/>
          </a:ln>
        </p:spPr>
        <p:txBody>
          <a:bodyPr anchorCtr="0" anchor="t" bIns="0" lIns="0" spcFirstLastPara="1" rIns="0" wrap="square" tIns="0">
            <a:spAutoFit/>
          </a:bodyPr>
          <a:lstStyle/>
          <a:p>
            <a:pPr indent="0" lvl="0" marL="0" marR="0" rtl="0" algn="ctr">
              <a:lnSpc>
                <a:spcPct val="104999"/>
              </a:lnSpc>
              <a:spcBef>
                <a:spcPts val="0"/>
              </a:spcBef>
              <a:spcAft>
                <a:spcPts val="0"/>
              </a:spcAft>
              <a:buNone/>
            </a:pPr>
            <a:r>
              <a:rPr b="1" i="0" lang="en-US" sz="7100" u="none" cap="none" strike="noStrike">
                <a:solidFill>
                  <a:srgbClr val="134E1A"/>
                </a:solidFill>
                <a:latin typeface="Arial"/>
                <a:ea typeface="Arial"/>
                <a:cs typeface="Arial"/>
                <a:sym typeface="Arial"/>
              </a:rPr>
              <a:t>MANAGEMENT SYSTEM</a:t>
            </a:r>
            <a:endParaRPr/>
          </a:p>
        </p:txBody>
      </p:sp>
      <p:sp>
        <p:nvSpPr>
          <p:cNvPr id="92" name="Google Shape;92;p1"/>
          <p:cNvSpPr txBox="1"/>
          <p:nvPr/>
        </p:nvSpPr>
        <p:spPr>
          <a:xfrm>
            <a:off x="9086327" y="4322254"/>
            <a:ext cx="8224444" cy="19240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200" u="none" cap="none" strike="noStrike">
                <a:solidFill>
                  <a:srgbClr val="322A2A"/>
                </a:solidFill>
                <a:latin typeface="Arial"/>
                <a:ea typeface="Arial"/>
                <a:cs typeface="Arial"/>
                <a:sym typeface="Arial"/>
              </a:rPr>
              <a:t>COE-IOT-4:</a:t>
            </a:r>
            <a:endParaRPr/>
          </a:p>
          <a:p>
            <a:pPr indent="0" lvl="0" marL="0" marR="0" rtl="0" algn="ctr">
              <a:lnSpc>
                <a:spcPct val="120000"/>
              </a:lnSpc>
              <a:spcBef>
                <a:spcPts val="0"/>
              </a:spcBef>
              <a:spcAft>
                <a:spcPts val="0"/>
              </a:spcAft>
              <a:buNone/>
            </a:pPr>
            <a:r>
              <a:rPr b="1" i="0" lang="en-US" sz="4200" u="none" cap="none" strike="noStrike">
                <a:solidFill>
                  <a:srgbClr val="322A2A"/>
                </a:solidFill>
                <a:latin typeface="Arial"/>
                <a:ea typeface="Arial"/>
                <a:cs typeface="Arial"/>
                <a:sym typeface="Arial"/>
              </a:rPr>
              <a:t>Sensor-based waste collection optimization</a:t>
            </a:r>
            <a:endParaRPr/>
          </a:p>
        </p:txBody>
      </p:sp>
      <p:sp>
        <p:nvSpPr>
          <p:cNvPr id="93" name="Google Shape;93;p1"/>
          <p:cNvSpPr txBox="1"/>
          <p:nvPr/>
        </p:nvSpPr>
        <p:spPr>
          <a:xfrm>
            <a:off x="12740924" y="6601443"/>
            <a:ext cx="3534000" cy="430800"/>
          </a:xfrm>
          <a:prstGeom prst="rect">
            <a:avLst/>
          </a:prstGeom>
          <a:noFill/>
          <a:ln>
            <a:noFill/>
          </a:ln>
        </p:spPr>
        <p:txBody>
          <a:bodyPr anchorCtr="0" anchor="t" bIns="0" lIns="0" spcFirstLastPara="1" rIns="0" wrap="square" tIns="0">
            <a:spAutoFit/>
          </a:bodyPr>
          <a:lstStyle/>
          <a:p>
            <a:pPr indent="0" lvl="0" marL="0" marR="0" rtl="0" algn="l">
              <a:lnSpc>
                <a:spcPct val="229046"/>
              </a:lnSpc>
              <a:spcBef>
                <a:spcPts val="0"/>
              </a:spcBef>
              <a:spcAft>
                <a:spcPts val="0"/>
              </a:spcAft>
              <a:buNone/>
            </a:pPr>
            <a:r>
              <a:rPr b="1" lang="en-US" sz="2799"/>
              <a:t>Group</a:t>
            </a:r>
            <a:r>
              <a:rPr i="0" lang="en-US" sz="2799" u="none" cap="none" strike="noStrike">
                <a:solidFill>
                  <a:srgbClr val="322A2A"/>
                </a:solidFill>
                <a:latin typeface="Ultra"/>
                <a:ea typeface="Ultra"/>
                <a:cs typeface="Ultra"/>
                <a:sym typeface="Ultra"/>
              </a:rPr>
              <a:t> </a:t>
            </a:r>
            <a:r>
              <a:rPr b="1" lang="en-US" sz="2799"/>
              <a:t>members</a:t>
            </a:r>
            <a:r>
              <a:rPr i="0" lang="en-US" sz="2799" u="none" cap="none" strike="noStrike">
                <a:solidFill>
                  <a:srgbClr val="322A2A"/>
                </a:solidFill>
                <a:latin typeface="Ultra"/>
                <a:ea typeface="Ultra"/>
                <a:cs typeface="Ultra"/>
                <a:sym typeface="Ultra"/>
              </a:rPr>
              <a:t>:</a:t>
            </a:r>
            <a:endParaRPr/>
          </a:p>
        </p:txBody>
      </p:sp>
      <p:sp>
        <p:nvSpPr>
          <p:cNvPr id="94" name="Google Shape;94;p1"/>
          <p:cNvSpPr txBox="1"/>
          <p:nvPr/>
        </p:nvSpPr>
        <p:spPr>
          <a:xfrm>
            <a:off x="12245160" y="8102281"/>
            <a:ext cx="6368100" cy="16374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000000"/>
                </a:solidFill>
                <a:latin typeface="Arial"/>
                <a:ea typeface="Arial"/>
                <a:cs typeface="Arial"/>
                <a:sym typeface="Arial"/>
              </a:rPr>
              <a:t>23251A0568  -  Amogha Sri K</a:t>
            </a:r>
            <a:endParaRPr/>
          </a:p>
          <a:p>
            <a:pPr indent="0" lvl="0" marL="0" marR="0" rtl="0" algn="l">
              <a:lnSpc>
                <a:spcPct val="140014"/>
              </a:lnSpc>
              <a:spcBef>
                <a:spcPts val="0"/>
              </a:spcBef>
              <a:spcAft>
                <a:spcPts val="0"/>
              </a:spcAft>
              <a:buNone/>
            </a:pPr>
            <a:r>
              <a:rPr b="1" i="0" lang="en-US" sz="2799" u="none" cap="none" strike="noStrike">
                <a:solidFill>
                  <a:srgbClr val="000000"/>
                </a:solidFill>
                <a:latin typeface="Arial"/>
                <a:ea typeface="Arial"/>
                <a:cs typeface="Arial"/>
                <a:sym typeface="Arial"/>
              </a:rPr>
              <a:t>23251A0594  -   S Vyshnavi</a:t>
            </a:r>
            <a:endParaRPr/>
          </a:p>
          <a:p>
            <a:pPr indent="0" lvl="0" marL="0" marR="0" rtl="0" algn="l">
              <a:lnSpc>
                <a:spcPct val="140014"/>
              </a:lnSpc>
              <a:spcBef>
                <a:spcPts val="0"/>
              </a:spcBef>
              <a:spcAft>
                <a:spcPts val="0"/>
              </a:spcAft>
              <a:buNone/>
            </a:pPr>
            <a:r>
              <a:rPr b="1" i="0" lang="en-US" sz="2799" u="none" cap="none" strike="noStrike">
                <a:solidFill>
                  <a:srgbClr val="000000"/>
                </a:solidFill>
                <a:latin typeface="Arial"/>
                <a:ea typeface="Arial"/>
                <a:cs typeface="Arial"/>
                <a:sym typeface="Arial"/>
              </a:rPr>
              <a:t>23251A0595  -   Sri Harshita K</a:t>
            </a:r>
            <a:endParaRPr/>
          </a:p>
        </p:txBody>
      </p:sp>
      <p:sp>
        <p:nvSpPr>
          <p:cNvPr id="95" name="Google Shape;95;p1"/>
          <p:cNvSpPr txBox="1"/>
          <p:nvPr/>
        </p:nvSpPr>
        <p:spPr>
          <a:xfrm>
            <a:off x="8827725" y="8102273"/>
            <a:ext cx="3213000" cy="16374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000000"/>
                </a:solidFill>
                <a:latin typeface="Arial"/>
                <a:ea typeface="Arial"/>
                <a:cs typeface="Arial"/>
                <a:sym typeface="Arial"/>
              </a:rPr>
              <a:t>Dr. T. Rajesh </a:t>
            </a:r>
            <a:endParaRPr/>
          </a:p>
          <a:p>
            <a:pPr indent="0" lvl="0" marL="0" marR="0" rtl="0" algn="l">
              <a:lnSpc>
                <a:spcPct val="140014"/>
              </a:lnSpc>
              <a:spcBef>
                <a:spcPts val="0"/>
              </a:spcBef>
              <a:spcAft>
                <a:spcPts val="0"/>
              </a:spcAft>
              <a:buNone/>
            </a:pPr>
            <a:r>
              <a:rPr b="1" i="0" lang="en-US" sz="2799" u="none" cap="none" strike="noStrike">
                <a:solidFill>
                  <a:srgbClr val="000000"/>
                </a:solidFill>
                <a:latin typeface="Arial"/>
                <a:ea typeface="Arial"/>
                <a:cs typeface="Arial"/>
                <a:sym typeface="Arial"/>
              </a:rPr>
              <a:t>Assistant Professor</a:t>
            </a:r>
            <a:endParaRPr/>
          </a:p>
        </p:txBody>
      </p:sp>
      <p:sp>
        <p:nvSpPr>
          <p:cNvPr id="96" name="Google Shape;96;p1"/>
          <p:cNvSpPr txBox="1"/>
          <p:nvPr/>
        </p:nvSpPr>
        <p:spPr>
          <a:xfrm>
            <a:off x="8827723" y="6423400"/>
            <a:ext cx="3344400" cy="1417500"/>
          </a:xfrm>
          <a:prstGeom prst="rect">
            <a:avLst/>
          </a:prstGeom>
          <a:noFill/>
          <a:ln>
            <a:noFill/>
          </a:ln>
        </p:spPr>
        <p:txBody>
          <a:bodyPr anchorCtr="0" anchor="t" bIns="0" lIns="0" spcFirstLastPara="1" rIns="0" wrap="square" tIns="0">
            <a:spAutoFit/>
          </a:bodyPr>
          <a:lstStyle/>
          <a:p>
            <a:pPr indent="0" lvl="0" marL="0" marR="0" rtl="0" algn="l">
              <a:lnSpc>
                <a:spcPct val="229046"/>
              </a:lnSpc>
              <a:spcBef>
                <a:spcPts val="0"/>
              </a:spcBef>
              <a:spcAft>
                <a:spcPts val="0"/>
              </a:spcAft>
              <a:buNone/>
            </a:pPr>
            <a:r>
              <a:rPr b="1" i="0" lang="en-US" sz="2799" u="none" cap="none" strike="noStrike">
                <a:solidFill>
                  <a:srgbClr val="000000"/>
                </a:solidFill>
                <a:latin typeface="Arial"/>
                <a:ea typeface="Arial"/>
                <a:cs typeface="Arial"/>
                <a:sym typeface="Arial"/>
              </a:rPr>
              <a:t>Batch no: 02</a:t>
            </a:r>
            <a:endParaRPr/>
          </a:p>
          <a:p>
            <a:pPr indent="0" lvl="0" marL="0" marR="0" rtl="0" algn="l">
              <a:lnSpc>
                <a:spcPct val="140014"/>
              </a:lnSpc>
              <a:spcBef>
                <a:spcPts val="0"/>
              </a:spcBef>
              <a:spcAft>
                <a:spcPts val="0"/>
              </a:spcAft>
              <a:buNone/>
            </a:pPr>
            <a:r>
              <a:rPr b="1" i="0" lang="en-US" sz="2799" u="none" cap="none" strike="noStrike">
                <a:solidFill>
                  <a:srgbClr val="000000"/>
                </a:solidFill>
                <a:latin typeface="Arial"/>
                <a:ea typeface="Arial"/>
                <a:cs typeface="Arial"/>
                <a:sym typeface="Arial"/>
              </a:rPr>
              <a:t>Guide details: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00" name="Shape 100"/>
        <p:cNvGrpSpPr/>
        <p:nvPr/>
      </p:nvGrpSpPr>
      <p:grpSpPr>
        <a:xfrm>
          <a:off x="0" y="0"/>
          <a:ext cx="0" cy="0"/>
          <a:chOff x="0" y="0"/>
          <a:chExt cx="0" cy="0"/>
        </a:xfrm>
      </p:grpSpPr>
      <p:grpSp>
        <p:nvGrpSpPr>
          <p:cNvPr id="101" name="Google Shape;101;p2"/>
          <p:cNvGrpSpPr/>
          <p:nvPr/>
        </p:nvGrpSpPr>
        <p:grpSpPr>
          <a:xfrm>
            <a:off x="-685800" y="6679109"/>
            <a:ext cx="3427276" cy="4237214"/>
            <a:chOff x="0" y="-57150"/>
            <a:chExt cx="902657" cy="1115974"/>
          </a:xfrm>
        </p:grpSpPr>
        <p:sp>
          <p:nvSpPr>
            <p:cNvPr id="102" name="Google Shape;102;p2"/>
            <p:cNvSpPr/>
            <p:nvPr/>
          </p:nvSpPr>
          <p:spPr>
            <a:xfrm>
              <a:off x="0" y="0"/>
              <a:ext cx="902657" cy="1058824"/>
            </a:xfrm>
            <a:custGeom>
              <a:rect b="b" l="l" r="r" t="t"/>
              <a:pathLst>
                <a:path extrusionOk="0" h="1058824" w="902657">
                  <a:moveTo>
                    <a:pt x="0" y="0"/>
                  </a:moveTo>
                  <a:lnTo>
                    <a:pt x="902657" y="0"/>
                  </a:lnTo>
                  <a:lnTo>
                    <a:pt x="902657" y="1058824"/>
                  </a:lnTo>
                  <a:lnTo>
                    <a:pt x="0" y="1058824"/>
                  </a:lnTo>
                  <a:close/>
                </a:path>
              </a:pathLst>
            </a:custGeom>
            <a:solidFill>
              <a:srgbClr val="F5F8EE"/>
            </a:solidFill>
            <a:ln>
              <a:noFill/>
            </a:ln>
          </p:spPr>
        </p:sp>
        <p:sp>
          <p:nvSpPr>
            <p:cNvPr id="103" name="Google Shape;103;p2"/>
            <p:cNvSpPr txBox="1"/>
            <p:nvPr/>
          </p:nvSpPr>
          <p:spPr>
            <a:xfrm>
              <a:off x="0" y="-57150"/>
              <a:ext cx="902657" cy="1115974"/>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2"/>
          <p:cNvSpPr txBox="1"/>
          <p:nvPr/>
        </p:nvSpPr>
        <p:spPr>
          <a:xfrm>
            <a:off x="1519602" y="2039591"/>
            <a:ext cx="15267845" cy="5072146"/>
          </a:xfrm>
          <a:prstGeom prst="rect">
            <a:avLst/>
          </a:prstGeom>
          <a:noFill/>
          <a:ln>
            <a:noFill/>
          </a:ln>
        </p:spPr>
        <p:txBody>
          <a:bodyPr anchorCtr="0" anchor="t" bIns="0" lIns="0" spcFirstLastPara="1" rIns="0" wrap="square" tIns="0">
            <a:spAutoFit/>
          </a:bodyPr>
          <a:lstStyle/>
          <a:p>
            <a:pPr indent="-347457" lvl="1" marL="694913" marR="0" rtl="0" algn="just">
              <a:lnSpc>
                <a:spcPct val="140024"/>
              </a:lnSpc>
              <a:spcBef>
                <a:spcPts val="0"/>
              </a:spcBef>
              <a:spcAft>
                <a:spcPts val="0"/>
              </a:spcAft>
              <a:buClr>
                <a:srgbClr val="000000"/>
              </a:buClr>
              <a:buSzPts val="3218"/>
              <a:buFont typeface="Arial"/>
              <a:buChar char="•"/>
            </a:pPr>
            <a:r>
              <a:rPr b="1" i="0" lang="en-US" sz="3218" u="none" cap="none" strike="noStrike">
                <a:solidFill>
                  <a:srgbClr val="000000"/>
                </a:solidFill>
                <a:latin typeface="Arial"/>
                <a:ea typeface="Arial"/>
                <a:cs typeface="Arial"/>
                <a:sym typeface="Arial"/>
              </a:rPr>
              <a:t>A Smart Waste Management System leverages technology for efficient waste handling.</a:t>
            </a:r>
            <a:endParaRPr/>
          </a:p>
          <a:p>
            <a:pPr indent="-347457" lvl="1" marL="694913" marR="0" rtl="0" algn="just">
              <a:lnSpc>
                <a:spcPct val="140024"/>
              </a:lnSpc>
              <a:spcBef>
                <a:spcPts val="0"/>
              </a:spcBef>
              <a:spcAft>
                <a:spcPts val="0"/>
              </a:spcAft>
              <a:buClr>
                <a:srgbClr val="000000"/>
              </a:buClr>
              <a:buSzPts val="3218"/>
              <a:buFont typeface="Arial"/>
              <a:buChar char="•"/>
            </a:pPr>
            <a:r>
              <a:rPr b="1" i="0" lang="en-US" sz="3218" u="none" cap="none" strike="noStrike">
                <a:solidFill>
                  <a:srgbClr val="000000"/>
                </a:solidFill>
                <a:latin typeface="Arial"/>
                <a:ea typeface="Arial"/>
                <a:cs typeface="Arial"/>
                <a:sym typeface="Arial"/>
              </a:rPr>
              <a:t>Utilizes smart bins equipped with sensors to detect fullness.</a:t>
            </a:r>
            <a:endParaRPr/>
          </a:p>
          <a:p>
            <a:pPr indent="-347457" lvl="1" marL="694913" marR="0" rtl="0" algn="just">
              <a:lnSpc>
                <a:spcPct val="140024"/>
              </a:lnSpc>
              <a:spcBef>
                <a:spcPts val="0"/>
              </a:spcBef>
              <a:spcAft>
                <a:spcPts val="0"/>
              </a:spcAft>
              <a:buClr>
                <a:srgbClr val="000000"/>
              </a:buClr>
              <a:buSzPts val="3218"/>
              <a:buFont typeface="Arial"/>
              <a:buChar char="•"/>
            </a:pPr>
            <a:r>
              <a:rPr b="1" i="0" lang="en-US" sz="3218" u="none" cap="none" strike="noStrike">
                <a:solidFill>
                  <a:srgbClr val="000000"/>
                </a:solidFill>
                <a:latin typeface="Arial"/>
                <a:ea typeface="Arial"/>
                <a:cs typeface="Arial"/>
                <a:sym typeface="Arial"/>
              </a:rPr>
              <a:t>Sends real-time data to  mobile through web application </a:t>
            </a:r>
            <a:endParaRPr/>
          </a:p>
          <a:p>
            <a:pPr indent="-347457" lvl="1" marL="694913" marR="0" rtl="0" algn="just">
              <a:lnSpc>
                <a:spcPct val="140024"/>
              </a:lnSpc>
              <a:spcBef>
                <a:spcPts val="0"/>
              </a:spcBef>
              <a:spcAft>
                <a:spcPts val="0"/>
              </a:spcAft>
              <a:buClr>
                <a:srgbClr val="000000"/>
              </a:buClr>
              <a:buSzPts val="3218"/>
              <a:buFont typeface="Arial"/>
              <a:buChar char="•"/>
            </a:pPr>
            <a:r>
              <a:rPr b="1" i="0" lang="en-US" sz="3218" u="none" cap="none" strike="noStrike">
                <a:solidFill>
                  <a:srgbClr val="000000"/>
                </a:solidFill>
                <a:latin typeface="Arial"/>
                <a:ea typeface="Arial"/>
                <a:cs typeface="Arial"/>
                <a:sym typeface="Arial"/>
              </a:rPr>
              <a:t>Automatically segregate wet and dry waste </a:t>
            </a:r>
            <a:endParaRPr/>
          </a:p>
          <a:p>
            <a:pPr indent="-347457" lvl="1" marL="694913" marR="0" rtl="0" algn="just">
              <a:lnSpc>
                <a:spcPct val="140024"/>
              </a:lnSpc>
              <a:spcBef>
                <a:spcPts val="0"/>
              </a:spcBef>
              <a:spcAft>
                <a:spcPts val="0"/>
              </a:spcAft>
              <a:buClr>
                <a:srgbClr val="000000"/>
              </a:buClr>
              <a:buSzPts val="3218"/>
              <a:buFont typeface="Arial"/>
              <a:buChar char="•"/>
            </a:pPr>
            <a:r>
              <a:rPr b="1" i="0" lang="en-US" sz="3218" u="none" cap="none" strike="noStrike">
                <a:solidFill>
                  <a:srgbClr val="000000"/>
                </a:solidFill>
                <a:latin typeface="Arial"/>
                <a:ea typeface="Arial"/>
                <a:cs typeface="Arial"/>
                <a:sym typeface="Arial"/>
              </a:rPr>
              <a:t>Includes a mobile or web app for waste management:</a:t>
            </a:r>
            <a:endParaRPr/>
          </a:p>
          <a:p>
            <a:pPr indent="0" lvl="0" marL="0" marR="0" rtl="0" algn="just">
              <a:lnSpc>
                <a:spcPct val="140024"/>
              </a:lnSpc>
              <a:spcBef>
                <a:spcPts val="0"/>
              </a:spcBef>
              <a:spcAft>
                <a:spcPts val="0"/>
              </a:spcAft>
              <a:buNone/>
            </a:pPr>
            <a:r>
              <a:rPr b="1" i="0" lang="en-US" sz="3218" u="none" cap="none" strike="noStrike">
                <a:solidFill>
                  <a:srgbClr val="000000"/>
                </a:solidFill>
                <a:latin typeface="Arial"/>
                <a:ea typeface="Arial"/>
                <a:cs typeface="Arial"/>
                <a:sym typeface="Arial"/>
              </a:rPr>
              <a:t>                      - Monitor bin levels.</a:t>
            </a:r>
            <a:endParaRPr/>
          </a:p>
          <a:p>
            <a:pPr indent="0" lvl="0" marL="0" marR="0" rtl="0" algn="just">
              <a:lnSpc>
                <a:spcPct val="140024"/>
              </a:lnSpc>
              <a:spcBef>
                <a:spcPts val="0"/>
              </a:spcBef>
              <a:spcAft>
                <a:spcPts val="0"/>
              </a:spcAft>
              <a:buNone/>
            </a:pPr>
            <a:r>
              <a:rPr b="1" i="0" lang="en-US" sz="3218" u="none" cap="none" strike="noStrike">
                <a:solidFill>
                  <a:srgbClr val="000000"/>
                </a:solidFill>
                <a:latin typeface="Arial"/>
                <a:ea typeface="Arial"/>
                <a:cs typeface="Arial"/>
                <a:sym typeface="Arial"/>
              </a:rPr>
              <a:t>                      - segregate wet and dry waste </a:t>
            </a:r>
            <a:endParaRPr/>
          </a:p>
          <a:p>
            <a:pPr indent="0" lvl="0" marL="0" marR="0" rtl="0" algn="just">
              <a:lnSpc>
                <a:spcPct val="140024"/>
              </a:lnSpc>
              <a:spcBef>
                <a:spcPts val="0"/>
              </a:spcBef>
              <a:spcAft>
                <a:spcPts val="0"/>
              </a:spcAft>
              <a:buNone/>
            </a:pPr>
            <a:r>
              <a:rPr b="1" i="0" lang="en-US" sz="3218" u="none" cap="none" strike="noStrike">
                <a:solidFill>
                  <a:srgbClr val="000000"/>
                </a:solidFill>
                <a:latin typeface="Arial"/>
                <a:ea typeface="Arial"/>
                <a:cs typeface="Arial"/>
                <a:sym typeface="Arial"/>
              </a:rPr>
              <a:t>                      - Ensure cleaner surroundings.</a:t>
            </a:r>
            <a:endParaRPr/>
          </a:p>
        </p:txBody>
      </p:sp>
      <p:sp>
        <p:nvSpPr>
          <p:cNvPr id="105" name="Google Shape;105;p2"/>
          <p:cNvSpPr txBox="1"/>
          <p:nvPr/>
        </p:nvSpPr>
        <p:spPr>
          <a:xfrm>
            <a:off x="6395978" y="382270"/>
            <a:ext cx="5515094"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Introduction</a:t>
            </a:r>
            <a:endParaRPr/>
          </a:p>
        </p:txBody>
      </p:sp>
      <p:grpSp>
        <p:nvGrpSpPr>
          <p:cNvPr id="106" name="Google Shape;106;p2"/>
          <p:cNvGrpSpPr/>
          <p:nvPr/>
        </p:nvGrpSpPr>
        <p:grpSpPr>
          <a:xfrm>
            <a:off x="14903550" y="-4662634"/>
            <a:ext cx="6768900" cy="6768900"/>
            <a:chOff x="0" y="0"/>
            <a:chExt cx="812800" cy="812800"/>
          </a:xfrm>
        </p:grpSpPr>
        <p:sp>
          <p:nvSpPr>
            <p:cNvPr id="107" name="Google Shape;10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12" name="Shape 112"/>
        <p:cNvGrpSpPr/>
        <p:nvPr/>
      </p:nvGrpSpPr>
      <p:grpSpPr>
        <a:xfrm>
          <a:off x="0" y="0"/>
          <a:ext cx="0" cy="0"/>
          <a:chOff x="0" y="0"/>
          <a:chExt cx="0" cy="0"/>
        </a:xfrm>
      </p:grpSpPr>
      <p:graphicFrame>
        <p:nvGraphicFramePr>
          <p:cNvPr id="113" name="Google Shape;113;p3"/>
          <p:cNvGraphicFramePr/>
          <p:nvPr/>
        </p:nvGraphicFramePr>
        <p:xfrm>
          <a:off x="792510" y="1238181"/>
          <a:ext cx="3000000" cy="3000000"/>
        </p:xfrm>
        <a:graphic>
          <a:graphicData uri="http://schemas.openxmlformats.org/drawingml/2006/table">
            <a:tbl>
              <a:tblPr>
                <a:noFill/>
                <a:tableStyleId>{79322B1B-1D9A-478A-AEE4-EB3A8170A35E}</a:tableStyleId>
              </a:tblPr>
              <a:tblGrid>
                <a:gridCol w="3990700"/>
                <a:gridCol w="1734400"/>
                <a:gridCol w="2713700"/>
                <a:gridCol w="4229800"/>
                <a:gridCol w="3562000"/>
              </a:tblGrid>
              <a:tr h="1559275">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Title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al"/>
                          <a:ea typeface="Arial"/>
                          <a:cs typeface="Arial"/>
                          <a:sym typeface="Arial"/>
                        </a:rPr>
                        <a:t>Year</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Journal/</a:t>
                      </a:r>
                      <a:endParaRPr sz="1100" u="none" cap="none" strike="noStrike"/>
                    </a:p>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Conference</a:t>
                      </a:r>
                      <a:endParaRPr/>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Method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Limitation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2537200">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Smart Waste Management 4.0: The Transition from a Systematic Review to an Integrated Framework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2024</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The Journal Waste Management</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Introduces SWM 4.0 by integrating Industry 4.0 technologies into waste management processes.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Focuses on theoretical framework; lacks empirical validation.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2171525">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An IoT-Based Smart Waste Management System for Municipalities or City Corporations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2024</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IEEE Xplore, ResearchGate, and arXiv</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Combines IoT-enabled smart bins with mobile applications for interactive waste management.</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Survey-based study; practical implementation details are limited.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2592425">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Optimizing Waste Management with Advanced Object Detection for Garbage Classification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2024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arXiv preprint</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Applies YOLO V5 object detection model for classifying various types of waste.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Focuses on model accuracy; integration into existing waste management systems not addressed.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114" name="Google Shape;114;p3"/>
          <p:cNvSpPr txBox="1"/>
          <p:nvPr/>
        </p:nvSpPr>
        <p:spPr>
          <a:xfrm>
            <a:off x="5273219" y="59621"/>
            <a:ext cx="7760613"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Literature Survey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18" name="Shape 118"/>
        <p:cNvGrpSpPr/>
        <p:nvPr/>
      </p:nvGrpSpPr>
      <p:grpSpPr>
        <a:xfrm>
          <a:off x="0" y="0"/>
          <a:ext cx="0" cy="0"/>
          <a:chOff x="0" y="0"/>
          <a:chExt cx="0" cy="0"/>
        </a:xfrm>
      </p:grpSpPr>
      <p:graphicFrame>
        <p:nvGraphicFramePr>
          <p:cNvPr id="119" name="Google Shape;119;p4"/>
          <p:cNvGraphicFramePr/>
          <p:nvPr/>
        </p:nvGraphicFramePr>
        <p:xfrm>
          <a:off x="1156596" y="1560830"/>
          <a:ext cx="3000000" cy="3000000"/>
        </p:xfrm>
        <a:graphic>
          <a:graphicData uri="http://schemas.openxmlformats.org/drawingml/2006/table">
            <a:tbl>
              <a:tblPr>
                <a:noFill/>
                <a:tableStyleId>{79322B1B-1D9A-478A-AEE4-EB3A8170A35E}</a:tableStyleId>
              </a:tblPr>
              <a:tblGrid>
                <a:gridCol w="4188300"/>
                <a:gridCol w="1729550"/>
                <a:gridCol w="2537200"/>
                <a:gridCol w="3764750"/>
                <a:gridCol w="4230700"/>
              </a:tblGrid>
              <a:tr h="1827550">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al"/>
                          <a:ea typeface="Arial"/>
                          <a:cs typeface="Arial"/>
                          <a:sym typeface="Arial"/>
                        </a:rPr>
                        <a:t>Title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al"/>
                          <a:ea typeface="Arial"/>
                          <a:cs typeface="Arial"/>
                          <a:sym typeface="Arial"/>
                        </a:rPr>
                        <a:t>Year</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Journal/</a:t>
                      </a:r>
                      <a:endParaRPr sz="1100" u="none" cap="none" strike="noStrike"/>
                    </a:p>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Conference</a:t>
                      </a:r>
                      <a:endParaRPr/>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Method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b="1" lang="en-US" sz="2999" u="none" cap="none" strike="noStrike">
                          <a:solidFill>
                            <a:srgbClr val="000000"/>
                          </a:solidFill>
                          <a:latin typeface="Arimo"/>
                          <a:ea typeface="Arimo"/>
                          <a:cs typeface="Arimo"/>
                          <a:sym typeface="Arimo"/>
                        </a:rPr>
                        <a:t>Limitation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2527550">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ConvoWaste: An Automatic Waste Segregation Machine Using Deep Learning</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4"/>
                        </a:lnSpc>
                        <a:spcBef>
                          <a:spcPts val="0"/>
                        </a:spcBef>
                        <a:spcAft>
                          <a:spcPts val="0"/>
                        </a:spcAft>
                        <a:buNone/>
                      </a:pPr>
                      <a:r>
                        <a:rPr lang="en-US" sz="2699" u="none" cap="none" strike="noStrike">
                          <a:solidFill>
                            <a:srgbClr val="000000"/>
                          </a:solidFill>
                          <a:latin typeface="Arimo"/>
                          <a:ea typeface="Arimo"/>
                          <a:cs typeface="Arimo"/>
                          <a:sym typeface="Arimo"/>
                        </a:rPr>
                        <a:t>2023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3rd ICREST'23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Utilizes deep convolutional neural networks for automatic waste classification and segregation.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High accuracy in controlled settings; performance in diverse environments untested.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3080575">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GULP: Solar-Powered Smart Garbage Segregation Bins with SMS Notification and Machine Learning Image Processing</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mo"/>
                          <a:ea typeface="Arimo"/>
                          <a:cs typeface="Arimo"/>
                          <a:sym typeface="Arimo"/>
                        </a:rPr>
                        <a:t>2023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499" u="none" cap="none" strike="noStrike">
                          <a:solidFill>
                            <a:srgbClr val="000000"/>
                          </a:solidFill>
                          <a:latin typeface="Arial"/>
                          <a:ea typeface="Arial"/>
                          <a:cs typeface="Arial"/>
                          <a:sym typeface="Arial"/>
                        </a:rPr>
                        <a:t>arXiv preprint</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Develops smart bins that use machine learning for waste segregation and SMS notifications for maintenance.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Limited to prototype stage; real-world scalability not tested.</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120" name="Google Shape;120;p4"/>
          <p:cNvSpPr txBox="1"/>
          <p:nvPr/>
        </p:nvSpPr>
        <p:spPr>
          <a:xfrm>
            <a:off x="5273219" y="382270"/>
            <a:ext cx="7760613"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Literature Survey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24" name="Shape 124"/>
        <p:cNvGrpSpPr/>
        <p:nvPr/>
      </p:nvGrpSpPr>
      <p:grpSpPr>
        <a:xfrm>
          <a:off x="0" y="0"/>
          <a:ext cx="0" cy="0"/>
          <a:chOff x="0" y="0"/>
          <a:chExt cx="0" cy="0"/>
        </a:xfrm>
      </p:grpSpPr>
      <p:grpSp>
        <p:nvGrpSpPr>
          <p:cNvPr id="125" name="Google Shape;125;p5"/>
          <p:cNvGrpSpPr/>
          <p:nvPr/>
        </p:nvGrpSpPr>
        <p:grpSpPr>
          <a:xfrm>
            <a:off x="-4593330" y="-3606547"/>
            <a:ext cx="6768900" cy="6768900"/>
            <a:chOff x="0" y="0"/>
            <a:chExt cx="812800" cy="812800"/>
          </a:xfrm>
        </p:grpSpPr>
        <p:sp>
          <p:nvSpPr>
            <p:cNvPr id="126" name="Google Shape;126;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p5"/>
          <p:cNvSpPr txBox="1"/>
          <p:nvPr/>
        </p:nvSpPr>
        <p:spPr>
          <a:xfrm>
            <a:off x="1732603" y="492278"/>
            <a:ext cx="14841844"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Existing System &amp; Drawbacks</a:t>
            </a:r>
            <a:endParaRPr/>
          </a:p>
        </p:txBody>
      </p:sp>
      <p:sp>
        <p:nvSpPr>
          <p:cNvPr id="129" name="Google Shape;129;p5"/>
          <p:cNvSpPr txBox="1"/>
          <p:nvPr/>
        </p:nvSpPr>
        <p:spPr>
          <a:xfrm>
            <a:off x="1732603" y="2174607"/>
            <a:ext cx="15858243" cy="642932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The current waste management system has several problems: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1. Fixed collection schedules ignore real-time bin fill levels.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2. No automatic segregation of dry and wet waste in traditional systems.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3. Manual lid opening decreases hygiene and increases health risks.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4. Bin status is checked manually, leading to delayed pickups.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5. No web-based monitoring for real-time bin data or alerts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6. Overflowing bins in busy areas, underused bins in others.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7. Mixed waste reduces recycling and increases landfill load.</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8. Faulty or full bins go unnoticed due to lack of smart alerts.</a:t>
            </a:r>
            <a:endParaRPr/>
          </a:p>
          <a:p>
            <a:pPr indent="0" lvl="0" marL="0" marR="0" rtl="0" algn="l">
              <a:lnSpc>
                <a:spcPct val="140000"/>
              </a:lnSpc>
              <a:spcBef>
                <a:spcPts val="0"/>
              </a:spcBef>
              <a:spcAft>
                <a:spcPts val="0"/>
              </a:spcAft>
              <a:buNone/>
            </a:pPr>
            <a:r>
              <a:rPr b="1" i="0" lang="en-US" sz="3305" u="none" cap="none" strike="noStrike">
                <a:solidFill>
                  <a:srgbClr val="000000"/>
                </a:solidFill>
                <a:latin typeface="Arial"/>
                <a:ea typeface="Arial"/>
                <a:cs typeface="Arial"/>
                <a:sym typeface="Arial"/>
              </a:rPr>
              <a:t>9. Low public engagement due to no user-friendly reporting or tracking</a:t>
            </a:r>
            <a:endParaRPr/>
          </a:p>
          <a:p>
            <a:pPr indent="0" lvl="0" marL="0" marR="0" rtl="0" algn="l">
              <a:lnSpc>
                <a:spcPct val="135340"/>
              </a:lnSpc>
              <a:spcBef>
                <a:spcPts val="0"/>
              </a:spcBef>
              <a:spcAft>
                <a:spcPts val="0"/>
              </a:spcAft>
              <a:buNone/>
            </a:pPr>
            <a:r>
              <a:t/>
            </a:r>
            <a:endParaRPr b="1" i="0" sz="3305" u="none" cap="none" strike="noStrike">
              <a:solidFill>
                <a:srgbClr val="000000"/>
              </a:solidFill>
              <a:latin typeface="Arial"/>
              <a:ea typeface="Arial"/>
              <a:cs typeface="Arial"/>
              <a:sym typeface="Arial"/>
            </a:endParaRPr>
          </a:p>
        </p:txBody>
      </p:sp>
      <p:grpSp>
        <p:nvGrpSpPr>
          <p:cNvPr id="130" name="Google Shape;130;p5"/>
          <p:cNvGrpSpPr/>
          <p:nvPr/>
        </p:nvGrpSpPr>
        <p:grpSpPr>
          <a:xfrm>
            <a:off x="14679025" y="8863541"/>
            <a:ext cx="3854967" cy="1423459"/>
            <a:chOff x="0" y="-57150"/>
            <a:chExt cx="1015300" cy="374903"/>
          </a:xfrm>
        </p:grpSpPr>
        <p:sp>
          <p:nvSpPr>
            <p:cNvPr id="131" name="Google Shape;131;p5"/>
            <p:cNvSpPr/>
            <p:nvPr/>
          </p:nvSpPr>
          <p:spPr>
            <a:xfrm>
              <a:off x="0" y="0"/>
              <a:ext cx="1015300" cy="317753"/>
            </a:xfrm>
            <a:custGeom>
              <a:rect b="b" l="l" r="r" t="t"/>
              <a:pathLst>
                <a:path extrusionOk="0" h="317753" w="1015300">
                  <a:moveTo>
                    <a:pt x="0" y="0"/>
                  </a:moveTo>
                  <a:lnTo>
                    <a:pt x="1015300" y="0"/>
                  </a:lnTo>
                  <a:lnTo>
                    <a:pt x="1015300" y="317753"/>
                  </a:lnTo>
                  <a:lnTo>
                    <a:pt x="0" y="317753"/>
                  </a:lnTo>
                  <a:close/>
                </a:path>
              </a:pathLst>
            </a:custGeom>
            <a:solidFill>
              <a:srgbClr val="F5F8EE"/>
            </a:solidFill>
            <a:ln>
              <a:noFill/>
            </a:ln>
          </p:spPr>
        </p:sp>
        <p:sp>
          <p:nvSpPr>
            <p:cNvPr id="132" name="Google Shape;132;p5"/>
            <p:cNvSpPr txBox="1"/>
            <p:nvPr/>
          </p:nvSpPr>
          <p:spPr>
            <a:xfrm>
              <a:off x="0" y="-57150"/>
              <a:ext cx="1015300" cy="374903"/>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36" name="Shape 136"/>
        <p:cNvGrpSpPr/>
        <p:nvPr/>
      </p:nvGrpSpPr>
      <p:grpSpPr>
        <a:xfrm>
          <a:off x="0" y="0"/>
          <a:ext cx="0" cy="0"/>
          <a:chOff x="0" y="0"/>
          <a:chExt cx="0" cy="0"/>
        </a:xfrm>
      </p:grpSpPr>
      <p:sp>
        <p:nvSpPr>
          <p:cNvPr id="137" name="Google Shape;137;p6"/>
          <p:cNvSpPr txBox="1"/>
          <p:nvPr/>
        </p:nvSpPr>
        <p:spPr>
          <a:xfrm>
            <a:off x="511492" y="304105"/>
            <a:ext cx="17265017" cy="22072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Proposed System: </a:t>
            </a:r>
            <a:endParaRPr/>
          </a:p>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Smart Waste Management Solution</a:t>
            </a:r>
            <a:endParaRPr/>
          </a:p>
        </p:txBody>
      </p:sp>
      <p:sp>
        <p:nvSpPr>
          <p:cNvPr id="138" name="Google Shape;138;p6"/>
          <p:cNvSpPr txBox="1"/>
          <p:nvPr/>
        </p:nvSpPr>
        <p:spPr>
          <a:xfrm>
            <a:off x="1356943" y="2724541"/>
            <a:ext cx="15574115" cy="1661795"/>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1" i="0" lang="en-US" sz="3199" u="none" cap="none" strike="noStrike">
                <a:solidFill>
                  <a:srgbClr val="000000"/>
                </a:solidFill>
                <a:latin typeface="Arial"/>
                <a:ea typeface="Arial"/>
                <a:cs typeface="Arial"/>
                <a:sym typeface="Arial"/>
              </a:rPr>
              <a:t>Our Smart Waste Management System solves the problems in the existing system by using IoT-based smart bins, real-time monitoring, and automated waste collection optimization. </a:t>
            </a:r>
            <a:endParaRPr/>
          </a:p>
        </p:txBody>
      </p:sp>
      <p:sp>
        <p:nvSpPr>
          <p:cNvPr id="139" name="Google Shape;139;p6"/>
          <p:cNvSpPr txBox="1"/>
          <p:nvPr/>
        </p:nvSpPr>
        <p:spPr>
          <a:xfrm>
            <a:off x="511492" y="4567311"/>
            <a:ext cx="5086640" cy="6889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000" u="none" cap="none" strike="noStrike">
                <a:solidFill>
                  <a:srgbClr val="000000"/>
                </a:solidFill>
                <a:latin typeface="Arial"/>
                <a:ea typeface="Arial"/>
                <a:cs typeface="Arial"/>
                <a:sym typeface="Arial"/>
              </a:rPr>
              <a:t>Main Features:</a:t>
            </a:r>
            <a:endParaRPr/>
          </a:p>
        </p:txBody>
      </p:sp>
      <p:sp>
        <p:nvSpPr>
          <p:cNvPr id="140" name="Google Shape;140;p6"/>
          <p:cNvSpPr txBox="1"/>
          <p:nvPr/>
        </p:nvSpPr>
        <p:spPr>
          <a:xfrm>
            <a:off x="1028700" y="5465835"/>
            <a:ext cx="15755298" cy="436504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100" u="none" cap="none" strike="noStrike">
                <a:solidFill>
                  <a:srgbClr val="000000"/>
                </a:solidFill>
                <a:latin typeface="Arial"/>
                <a:ea typeface="Arial"/>
                <a:cs typeface="Arial"/>
                <a:sym typeface="Arial"/>
              </a:rPr>
              <a:t>1. Automatic lid opening using motion sensors.</a:t>
            </a:r>
            <a:endParaRPr/>
          </a:p>
          <a:p>
            <a:pPr indent="0" lvl="0" marL="0" marR="0" rtl="0" algn="l">
              <a:lnSpc>
                <a:spcPct val="140000"/>
              </a:lnSpc>
              <a:spcBef>
                <a:spcPts val="0"/>
              </a:spcBef>
              <a:spcAft>
                <a:spcPts val="0"/>
              </a:spcAft>
              <a:buNone/>
            </a:pPr>
            <a:r>
              <a:rPr b="1" i="0" lang="en-US" sz="3100" u="none" cap="none" strike="noStrike">
                <a:solidFill>
                  <a:srgbClr val="000000"/>
                </a:solidFill>
                <a:latin typeface="Arial"/>
                <a:ea typeface="Arial"/>
                <a:cs typeface="Arial"/>
                <a:sym typeface="Arial"/>
              </a:rPr>
              <a:t>2. Dry and wet waste segregation using sensors.</a:t>
            </a:r>
            <a:endParaRPr/>
          </a:p>
          <a:p>
            <a:pPr indent="0" lvl="0" marL="0" marR="0" rtl="0" algn="l">
              <a:lnSpc>
                <a:spcPct val="140000"/>
              </a:lnSpc>
              <a:spcBef>
                <a:spcPts val="0"/>
              </a:spcBef>
              <a:spcAft>
                <a:spcPts val="0"/>
              </a:spcAft>
              <a:buNone/>
            </a:pPr>
            <a:r>
              <a:rPr b="1" i="0" lang="en-US" sz="3100" u="none" cap="none" strike="noStrike">
                <a:solidFill>
                  <a:srgbClr val="000000"/>
                </a:solidFill>
                <a:latin typeface="Arial"/>
                <a:ea typeface="Arial"/>
                <a:cs typeface="Arial"/>
                <a:sym typeface="Arial"/>
              </a:rPr>
              <a:t>3. Real-time bin level monitoring with ultrasonic sensors.</a:t>
            </a:r>
            <a:endParaRPr/>
          </a:p>
          <a:p>
            <a:pPr indent="0" lvl="0" marL="0" marR="0" rtl="0" algn="l">
              <a:lnSpc>
                <a:spcPct val="140000"/>
              </a:lnSpc>
              <a:spcBef>
                <a:spcPts val="0"/>
              </a:spcBef>
              <a:spcAft>
                <a:spcPts val="0"/>
              </a:spcAft>
              <a:buNone/>
            </a:pPr>
            <a:r>
              <a:rPr b="1" i="0" lang="en-US" sz="3100" u="none" cap="none" strike="noStrike">
                <a:solidFill>
                  <a:srgbClr val="000000"/>
                </a:solidFill>
                <a:latin typeface="Arial"/>
                <a:ea typeface="Arial"/>
                <a:cs typeface="Arial"/>
                <a:sym typeface="Arial"/>
              </a:rPr>
              <a:t>4. Web application to display bin status levels.</a:t>
            </a:r>
            <a:endParaRPr/>
          </a:p>
          <a:p>
            <a:pPr indent="0" lvl="0" marL="0" marR="0" rtl="0" algn="l">
              <a:lnSpc>
                <a:spcPct val="140000"/>
              </a:lnSpc>
              <a:spcBef>
                <a:spcPts val="0"/>
              </a:spcBef>
              <a:spcAft>
                <a:spcPts val="0"/>
              </a:spcAft>
              <a:buNone/>
            </a:pPr>
            <a:r>
              <a:rPr b="1" i="0" lang="en-US" sz="3100" u="none" cap="none" strike="noStrike">
                <a:solidFill>
                  <a:srgbClr val="000000"/>
                </a:solidFill>
                <a:latin typeface="Arial"/>
                <a:ea typeface="Arial"/>
                <a:cs typeface="Arial"/>
                <a:sym typeface="Arial"/>
              </a:rPr>
              <a:t>5. Alert notifications when bins are full.</a:t>
            </a:r>
            <a:endParaRPr/>
          </a:p>
          <a:p>
            <a:pPr indent="0" lvl="0" marL="0" marR="0" rtl="0" algn="l">
              <a:lnSpc>
                <a:spcPct val="140000"/>
              </a:lnSpc>
              <a:spcBef>
                <a:spcPts val="0"/>
              </a:spcBef>
              <a:spcAft>
                <a:spcPts val="0"/>
              </a:spcAft>
              <a:buNone/>
            </a:pPr>
            <a:r>
              <a:rPr b="1" i="0" lang="en-US" sz="3100" u="none" cap="none" strike="noStrike">
                <a:solidFill>
                  <a:srgbClr val="000000"/>
                </a:solidFill>
                <a:latin typeface="Arial"/>
                <a:ea typeface="Arial"/>
                <a:cs typeface="Arial"/>
                <a:sym typeface="Arial"/>
              </a:rPr>
              <a:t>6. Hygienic and touch-free operation. </a:t>
            </a:r>
            <a:endParaRPr/>
          </a:p>
          <a:p>
            <a:pPr indent="0" lvl="0" marL="0" marR="0" rtl="0" algn="l">
              <a:lnSpc>
                <a:spcPct val="140000"/>
              </a:lnSpc>
              <a:spcBef>
                <a:spcPts val="0"/>
              </a:spcBef>
              <a:spcAft>
                <a:spcPts val="0"/>
              </a:spcAft>
              <a:buNone/>
            </a:pPr>
            <a:r>
              <a:rPr b="1" i="0" lang="en-US" sz="3100" u="none" cap="none" strike="noStrike">
                <a:solidFill>
                  <a:srgbClr val="000000"/>
                </a:solidFill>
                <a:latin typeface="Arial"/>
                <a:ea typeface="Arial"/>
                <a:cs typeface="Arial"/>
                <a:sym typeface="Arial"/>
              </a:rPr>
              <a:t>7. Enhanced recycling and sustainability.</a:t>
            </a:r>
            <a:endParaRPr/>
          </a:p>
          <a:p>
            <a:pPr indent="0" lvl="0" marL="0" marR="0" rtl="0" algn="l">
              <a:lnSpc>
                <a:spcPct val="140000"/>
              </a:lnSpc>
              <a:spcBef>
                <a:spcPts val="0"/>
              </a:spcBef>
              <a:spcAft>
                <a:spcPts val="0"/>
              </a:spcAft>
              <a:buNone/>
            </a:pPr>
            <a:r>
              <a:t/>
            </a:r>
            <a:endParaRPr b="1" i="0" sz="3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44" name="Shape 144"/>
        <p:cNvGrpSpPr/>
        <p:nvPr/>
      </p:nvGrpSpPr>
      <p:grpSpPr>
        <a:xfrm>
          <a:off x="0" y="0"/>
          <a:ext cx="0" cy="0"/>
          <a:chOff x="0" y="0"/>
          <a:chExt cx="0" cy="0"/>
        </a:xfrm>
      </p:grpSpPr>
      <p:sp>
        <p:nvSpPr>
          <p:cNvPr id="145" name="Google Shape;145;p7"/>
          <p:cNvSpPr txBox="1"/>
          <p:nvPr/>
        </p:nvSpPr>
        <p:spPr>
          <a:xfrm>
            <a:off x="4736127" y="914400"/>
            <a:ext cx="8815745" cy="117856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Problem Statement</a:t>
            </a:r>
            <a:endParaRPr/>
          </a:p>
        </p:txBody>
      </p:sp>
      <p:sp>
        <p:nvSpPr>
          <p:cNvPr id="146" name="Google Shape;146;p7"/>
          <p:cNvSpPr txBox="1"/>
          <p:nvPr/>
        </p:nvSpPr>
        <p:spPr>
          <a:xfrm>
            <a:off x="1366136" y="2696078"/>
            <a:ext cx="15555728" cy="56134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1" i="0" lang="en-US" sz="3999" u="none" cap="none" strike="noStrike">
                <a:solidFill>
                  <a:srgbClr val="000000"/>
                </a:solidFill>
                <a:latin typeface="Arial"/>
                <a:ea typeface="Arial"/>
                <a:cs typeface="Arial"/>
                <a:sym typeface="Arial"/>
              </a:rPr>
              <a:t>Traditional waste management systems rely on fixed schedules, manual bin monitoring, and lack proper segregation of dry and wet waste. This leads to overflowing bins, unhygienic conditions, inefficient collection, and low recycling rates. There is a need for a smart, automated system that can monitor bin levels in real-time, segregate waste efficiently, and provide timely alerts through a web-based platform to improve cleanliness, sustainability, and public health.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50" name="Shape 150"/>
        <p:cNvGrpSpPr/>
        <p:nvPr/>
      </p:nvGrpSpPr>
      <p:grpSpPr>
        <a:xfrm>
          <a:off x="0" y="0"/>
          <a:ext cx="0" cy="0"/>
          <a:chOff x="0" y="0"/>
          <a:chExt cx="0" cy="0"/>
        </a:xfrm>
      </p:grpSpPr>
      <p:sp>
        <p:nvSpPr>
          <p:cNvPr id="151" name="Google Shape;151;p8"/>
          <p:cNvSpPr txBox="1"/>
          <p:nvPr/>
        </p:nvSpPr>
        <p:spPr>
          <a:xfrm>
            <a:off x="6665297" y="914400"/>
            <a:ext cx="4976456" cy="117856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Objectives </a:t>
            </a:r>
            <a:endParaRPr/>
          </a:p>
        </p:txBody>
      </p:sp>
      <p:sp>
        <p:nvSpPr>
          <p:cNvPr id="152" name="Google Shape;152;p8"/>
          <p:cNvSpPr txBox="1"/>
          <p:nvPr/>
        </p:nvSpPr>
        <p:spPr>
          <a:xfrm>
            <a:off x="2227847" y="2485390"/>
            <a:ext cx="13832306" cy="524002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i="0" lang="en-US" sz="3699" u="none" cap="none" strike="noStrike">
                <a:solidFill>
                  <a:srgbClr val="000000"/>
                </a:solidFill>
                <a:latin typeface="Arial"/>
                <a:ea typeface="Arial"/>
                <a:cs typeface="Arial"/>
                <a:sym typeface="Arial"/>
              </a:rPr>
              <a:t>1. Automate lid opening for hygienic, touch-free waste disposal.</a:t>
            </a:r>
            <a:endParaRPr/>
          </a:p>
          <a:p>
            <a:pPr indent="0" lvl="0" marL="0" marR="0" rtl="0" algn="l">
              <a:lnSpc>
                <a:spcPct val="140010"/>
              </a:lnSpc>
              <a:spcBef>
                <a:spcPts val="0"/>
              </a:spcBef>
              <a:spcAft>
                <a:spcPts val="0"/>
              </a:spcAft>
              <a:buNone/>
            </a:pPr>
            <a:r>
              <a:rPr b="1" i="0" lang="en-US" sz="3699" u="none" cap="none" strike="noStrike">
                <a:solidFill>
                  <a:srgbClr val="000000"/>
                </a:solidFill>
                <a:latin typeface="Arial"/>
                <a:ea typeface="Arial"/>
                <a:cs typeface="Arial"/>
                <a:sym typeface="Arial"/>
              </a:rPr>
              <a:t>2. Segregate dry and wet waste automatically using sensors.</a:t>
            </a:r>
            <a:endParaRPr/>
          </a:p>
          <a:p>
            <a:pPr indent="0" lvl="0" marL="0" marR="0" rtl="0" algn="l">
              <a:lnSpc>
                <a:spcPct val="140010"/>
              </a:lnSpc>
              <a:spcBef>
                <a:spcPts val="0"/>
              </a:spcBef>
              <a:spcAft>
                <a:spcPts val="0"/>
              </a:spcAft>
              <a:buNone/>
            </a:pPr>
            <a:r>
              <a:rPr b="1" i="0" lang="en-US" sz="3699" u="none" cap="none" strike="noStrike">
                <a:solidFill>
                  <a:srgbClr val="000000"/>
                </a:solidFill>
                <a:latin typeface="Arial"/>
                <a:ea typeface="Arial"/>
                <a:cs typeface="Arial"/>
                <a:sym typeface="Arial"/>
              </a:rPr>
              <a:t>3. Monitor bin levels in real-time using ultrasonic sensors.</a:t>
            </a:r>
            <a:endParaRPr/>
          </a:p>
          <a:p>
            <a:pPr indent="0" lvl="0" marL="0" marR="0" rtl="0" algn="l">
              <a:lnSpc>
                <a:spcPct val="140010"/>
              </a:lnSpc>
              <a:spcBef>
                <a:spcPts val="0"/>
              </a:spcBef>
              <a:spcAft>
                <a:spcPts val="0"/>
              </a:spcAft>
              <a:buNone/>
            </a:pPr>
            <a:r>
              <a:rPr b="1" i="0" lang="en-US" sz="3699" u="none" cap="none" strike="noStrike">
                <a:solidFill>
                  <a:srgbClr val="000000"/>
                </a:solidFill>
                <a:latin typeface="Arial"/>
                <a:ea typeface="Arial"/>
                <a:cs typeface="Arial"/>
                <a:sym typeface="Arial"/>
              </a:rPr>
              <a:t>4. Displays when bins are full or need attention.</a:t>
            </a:r>
            <a:endParaRPr/>
          </a:p>
          <a:p>
            <a:pPr indent="0" lvl="0" marL="0" marR="0" rtl="0" algn="l">
              <a:lnSpc>
                <a:spcPct val="140010"/>
              </a:lnSpc>
              <a:spcBef>
                <a:spcPts val="0"/>
              </a:spcBef>
              <a:spcAft>
                <a:spcPts val="0"/>
              </a:spcAft>
              <a:buNone/>
            </a:pPr>
            <a:r>
              <a:rPr b="1" i="0" lang="en-US" sz="3699" u="none" cap="none" strike="noStrike">
                <a:solidFill>
                  <a:srgbClr val="000000"/>
                </a:solidFill>
                <a:latin typeface="Arial"/>
                <a:ea typeface="Arial"/>
                <a:cs typeface="Arial"/>
                <a:sym typeface="Arial"/>
              </a:rPr>
              <a:t>5. Display data on a web application for easy access.</a:t>
            </a:r>
            <a:endParaRPr/>
          </a:p>
          <a:p>
            <a:pPr indent="0" lvl="0" marL="0" marR="0" rtl="0" algn="l">
              <a:lnSpc>
                <a:spcPct val="140010"/>
              </a:lnSpc>
              <a:spcBef>
                <a:spcPts val="0"/>
              </a:spcBef>
              <a:spcAft>
                <a:spcPts val="0"/>
              </a:spcAft>
              <a:buNone/>
            </a:pPr>
            <a:r>
              <a:rPr b="1" i="0" lang="en-US" sz="3699" u="none" cap="none" strike="noStrike">
                <a:solidFill>
                  <a:srgbClr val="000000"/>
                </a:solidFill>
                <a:latin typeface="Arial"/>
                <a:ea typeface="Arial"/>
                <a:cs typeface="Arial"/>
                <a:sym typeface="Arial"/>
              </a:rPr>
              <a:t>6. Improve waste collection efficiency with data-driven decisions.</a:t>
            </a:r>
            <a:endParaRPr/>
          </a:p>
        </p:txBody>
      </p:sp>
      <p:grpSp>
        <p:nvGrpSpPr>
          <p:cNvPr id="153" name="Google Shape;153;p8"/>
          <p:cNvGrpSpPr/>
          <p:nvPr/>
        </p:nvGrpSpPr>
        <p:grpSpPr>
          <a:xfrm>
            <a:off x="15043679" y="9140162"/>
            <a:ext cx="3427276" cy="1146838"/>
            <a:chOff x="0" y="-57150"/>
            <a:chExt cx="902657" cy="302048"/>
          </a:xfrm>
        </p:grpSpPr>
        <p:sp>
          <p:nvSpPr>
            <p:cNvPr id="154" name="Google Shape;154;p8"/>
            <p:cNvSpPr/>
            <p:nvPr/>
          </p:nvSpPr>
          <p:spPr>
            <a:xfrm>
              <a:off x="0" y="0"/>
              <a:ext cx="902657" cy="244898"/>
            </a:xfrm>
            <a:custGeom>
              <a:rect b="b" l="l" r="r" t="t"/>
              <a:pathLst>
                <a:path extrusionOk="0" h="244898" w="902657">
                  <a:moveTo>
                    <a:pt x="0" y="0"/>
                  </a:moveTo>
                  <a:lnTo>
                    <a:pt x="902657" y="0"/>
                  </a:lnTo>
                  <a:lnTo>
                    <a:pt x="902657" y="244898"/>
                  </a:lnTo>
                  <a:lnTo>
                    <a:pt x="0" y="244898"/>
                  </a:lnTo>
                  <a:close/>
                </a:path>
              </a:pathLst>
            </a:custGeom>
            <a:solidFill>
              <a:srgbClr val="F5F8EE"/>
            </a:solidFill>
            <a:ln>
              <a:noFill/>
            </a:ln>
          </p:spPr>
        </p:sp>
        <p:sp>
          <p:nvSpPr>
            <p:cNvPr id="155" name="Google Shape;155;p8"/>
            <p:cNvSpPr txBox="1"/>
            <p:nvPr/>
          </p:nvSpPr>
          <p:spPr>
            <a:xfrm>
              <a:off x="0" y="-57150"/>
              <a:ext cx="902657" cy="302048"/>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59" name="Shape 159"/>
        <p:cNvGrpSpPr/>
        <p:nvPr/>
      </p:nvGrpSpPr>
      <p:grpSpPr>
        <a:xfrm>
          <a:off x="0" y="0"/>
          <a:ext cx="0" cy="0"/>
          <a:chOff x="0" y="0"/>
          <a:chExt cx="0" cy="0"/>
        </a:xfrm>
      </p:grpSpPr>
      <p:grpSp>
        <p:nvGrpSpPr>
          <p:cNvPr id="160" name="Google Shape;160;p9"/>
          <p:cNvGrpSpPr/>
          <p:nvPr/>
        </p:nvGrpSpPr>
        <p:grpSpPr>
          <a:xfrm>
            <a:off x="-2398576" y="6999484"/>
            <a:ext cx="3427276" cy="4237214"/>
            <a:chOff x="0" y="-57150"/>
            <a:chExt cx="902657" cy="1115974"/>
          </a:xfrm>
        </p:grpSpPr>
        <p:sp>
          <p:nvSpPr>
            <p:cNvPr id="161" name="Google Shape;161;p9"/>
            <p:cNvSpPr/>
            <p:nvPr/>
          </p:nvSpPr>
          <p:spPr>
            <a:xfrm>
              <a:off x="0" y="0"/>
              <a:ext cx="902657" cy="1058824"/>
            </a:xfrm>
            <a:custGeom>
              <a:rect b="b" l="l" r="r" t="t"/>
              <a:pathLst>
                <a:path extrusionOk="0" h="1058824" w="902657">
                  <a:moveTo>
                    <a:pt x="0" y="0"/>
                  </a:moveTo>
                  <a:lnTo>
                    <a:pt x="902657" y="0"/>
                  </a:lnTo>
                  <a:lnTo>
                    <a:pt x="902657" y="1058824"/>
                  </a:lnTo>
                  <a:lnTo>
                    <a:pt x="0" y="1058824"/>
                  </a:lnTo>
                  <a:close/>
                </a:path>
              </a:pathLst>
            </a:custGeom>
            <a:solidFill>
              <a:srgbClr val="F5F8EE"/>
            </a:solidFill>
            <a:ln>
              <a:noFill/>
            </a:ln>
          </p:spPr>
        </p:sp>
        <p:sp>
          <p:nvSpPr>
            <p:cNvPr id="162" name="Google Shape;162;p9"/>
            <p:cNvSpPr txBox="1"/>
            <p:nvPr/>
          </p:nvSpPr>
          <p:spPr>
            <a:xfrm>
              <a:off x="0" y="-57150"/>
              <a:ext cx="902657" cy="1115974"/>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9"/>
          <p:cNvSpPr txBox="1"/>
          <p:nvPr/>
        </p:nvSpPr>
        <p:spPr>
          <a:xfrm>
            <a:off x="2070946" y="2782571"/>
            <a:ext cx="14726781" cy="4434291"/>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600" u="sng" cap="none" strike="noStrike">
                <a:solidFill>
                  <a:srgbClr val="000000"/>
                </a:solidFill>
                <a:latin typeface="Arial"/>
                <a:ea typeface="Arial"/>
                <a:cs typeface="Arial"/>
                <a:sym typeface="Arial"/>
              </a:rPr>
              <a:t> Hardware -</a:t>
            </a:r>
            <a:r>
              <a:rPr b="1" i="0" lang="en-US" sz="3600" u="none" cap="none" strike="noStrike">
                <a:solidFill>
                  <a:srgbClr val="000000"/>
                </a:solidFill>
                <a:latin typeface="Arial"/>
                <a:ea typeface="Arial"/>
                <a:cs typeface="Arial"/>
                <a:sym typeface="Arial"/>
              </a:rPr>
              <a:t> </a:t>
            </a:r>
            <a:endParaRPr/>
          </a:p>
          <a:p>
            <a:pPr indent="0" lvl="0" marL="0" marR="0" rtl="0" algn="just">
              <a:lnSpc>
                <a:spcPct val="140000"/>
              </a:lnSpc>
              <a:spcBef>
                <a:spcPts val="0"/>
              </a:spcBef>
              <a:spcAft>
                <a:spcPts val="0"/>
              </a:spcAft>
              <a:buNone/>
            </a:pPr>
            <a:r>
              <a:rPr b="1" i="0" lang="en-US" sz="3600" u="none" cap="none" strike="noStrike">
                <a:solidFill>
                  <a:srgbClr val="000000"/>
                </a:solidFill>
                <a:latin typeface="Arial"/>
                <a:ea typeface="Arial"/>
                <a:cs typeface="Arial"/>
                <a:sym typeface="Arial"/>
              </a:rPr>
              <a:t>Ultrasonic Sensors (HC-SR04), Microcontroller (Arduino), Servo Motors, Soil Moisture Sensor, Jumper wires, breadboard and Waste Bin with Mounting Setup. </a:t>
            </a:r>
            <a:endParaRPr/>
          </a:p>
          <a:p>
            <a:pPr indent="0" lvl="0" marL="0" marR="0" rtl="0" algn="just">
              <a:lnSpc>
                <a:spcPct val="140000"/>
              </a:lnSpc>
              <a:spcBef>
                <a:spcPts val="0"/>
              </a:spcBef>
              <a:spcAft>
                <a:spcPts val="0"/>
              </a:spcAft>
              <a:buNone/>
            </a:pPr>
            <a:r>
              <a:t/>
            </a:r>
            <a:endParaRPr b="1" i="0" sz="36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None/>
            </a:pPr>
            <a:r>
              <a:rPr b="1" i="0" lang="en-US" sz="3600" u="sng" cap="none" strike="noStrike">
                <a:solidFill>
                  <a:srgbClr val="000000"/>
                </a:solidFill>
                <a:latin typeface="Arial"/>
                <a:ea typeface="Arial"/>
                <a:cs typeface="Arial"/>
                <a:sym typeface="Arial"/>
              </a:rPr>
              <a:t>Software - </a:t>
            </a:r>
            <a:endParaRPr/>
          </a:p>
          <a:p>
            <a:pPr indent="0" lvl="0" marL="0" marR="0" rtl="0" algn="just">
              <a:lnSpc>
                <a:spcPct val="140000"/>
              </a:lnSpc>
              <a:spcBef>
                <a:spcPts val="0"/>
              </a:spcBef>
              <a:spcAft>
                <a:spcPts val="0"/>
              </a:spcAft>
              <a:buNone/>
            </a:pPr>
            <a:r>
              <a:rPr b="1" i="0" lang="en-US" sz="3600" u="none" cap="none" strike="noStrike">
                <a:solidFill>
                  <a:srgbClr val="000000"/>
                </a:solidFill>
                <a:latin typeface="Arial"/>
                <a:ea typeface="Arial"/>
                <a:cs typeface="Arial"/>
                <a:sym typeface="Arial"/>
              </a:rPr>
              <a:t>Embedded C (Arduino IDE), Web Dashboard (HTML, CSS, Flask). </a:t>
            </a:r>
            <a:endParaRPr/>
          </a:p>
        </p:txBody>
      </p:sp>
      <p:sp>
        <p:nvSpPr>
          <p:cNvPr id="164" name="Google Shape;164;p9"/>
          <p:cNvSpPr txBox="1"/>
          <p:nvPr/>
        </p:nvSpPr>
        <p:spPr>
          <a:xfrm>
            <a:off x="1515194" y="651511"/>
            <a:ext cx="16099617" cy="22072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Hardware &amp; Software Requirements</a:t>
            </a:r>
            <a:endParaRPr/>
          </a:p>
        </p:txBody>
      </p:sp>
      <p:grpSp>
        <p:nvGrpSpPr>
          <p:cNvPr id="165" name="Google Shape;165;p9"/>
          <p:cNvGrpSpPr/>
          <p:nvPr/>
        </p:nvGrpSpPr>
        <p:grpSpPr>
          <a:xfrm>
            <a:off x="14903550" y="-4662634"/>
            <a:ext cx="6768900" cy="6768900"/>
            <a:chOff x="0" y="0"/>
            <a:chExt cx="812800" cy="812800"/>
          </a:xfrm>
        </p:grpSpPr>
        <p:sp>
          <p:nvSpPr>
            <p:cNvPr id="166" name="Google Shape;166;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71" name="Shape 171"/>
        <p:cNvGrpSpPr/>
        <p:nvPr/>
      </p:nvGrpSpPr>
      <p:grpSpPr>
        <a:xfrm>
          <a:off x="0" y="0"/>
          <a:ext cx="0" cy="0"/>
          <a:chOff x="0" y="0"/>
          <a:chExt cx="0" cy="0"/>
        </a:xfrm>
      </p:grpSpPr>
      <p:grpSp>
        <p:nvGrpSpPr>
          <p:cNvPr id="172" name="Google Shape;172;p10"/>
          <p:cNvGrpSpPr/>
          <p:nvPr/>
        </p:nvGrpSpPr>
        <p:grpSpPr>
          <a:xfrm>
            <a:off x="16332306" y="-159177"/>
            <a:ext cx="1955694" cy="10503991"/>
            <a:chOff x="0" y="-57150"/>
            <a:chExt cx="515080" cy="2766483"/>
          </a:xfrm>
        </p:grpSpPr>
        <p:sp>
          <p:nvSpPr>
            <p:cNvPr id="173" name="Google Shape;173;p10"/>
            <p:cNvSpPr/>
            <p:nvPr/>
          </p:nvSpPr>
          <p:spPr>
            <a:xfrm>
              <a:off x="0" y="0"/>
              <a:ext cx="515080" cy="2709333"/>
            </a:xfrm>
            <a:custGeom>
              <a:rect b="b" l="l" r="r" t="t"/>
              <a:pathLst>
                <a:path extrusionOk="0" h="2709333" w="515080">
                  <a:moveTo>
                    <a:pt x="0" y="0"/>
                  </a:moveTo>
                  <a:lnTo>
                    <a:pt x="515080" y="0"/>
                  </a:lnTo>
                  <a:lnTo>
                    <a:pt x="515080" y="2709333"/>
                  </a:lnTo>
                  <a:lnTo>
                    <a:pt x="0" y="2709333"/>
                  </a:lnTo>
                  <a:close/>
                </a:path>
              </a:pathLst>
            </a:custGeom>
            <a:solidFill>
              <a:srgbClr val="D9DFCE"/>
            </a:solidFill>
            <a:ln>
              <a:noFill/>
            </a:ln>
          </p:spPr>
        </p:sp>
        <p:sp>
          <p:nvSpPr>
            <p:cNvPr id="174" name="Google Shape;174;p10"/>
            <p:cNvSpPr txBox="1"/>
            <p:nvPr/>
          </p:nvSpPr>
          <p:spPr>
            <a:xfrm>
              <a:off x="0" y="-57150"/>
              <a:ext cx="515080" cy="2766483"/>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5" name="Google Shape;175;p10"/>
          <p:cNvSpPr/>
          <p:nvPr/>
        </p:nvSpPr>
        <p:spPr>
          <a:xfrm>
            <a:off x="6099845" y="1028700"/>
            <a:ext cx="6088310" cy="9138177"/>
          </a:xfrm>
          <a:custGeom>
            <a:rect b="b" l="l" r="r" t="t"/>
            <a:pathLst>
              <a:path extrusionOk="0" h="9138177" w="6088310">
                <a:moveTo>
                  <a:pt x="0" y="0"/>
                </a:moveTo>
                <a:lnTo>
                  <a:pt x="6088310" y="0"/>
                </a:lnTo>
                <a:lnTo>
                  <a:pt x="6088310" y="9138177"/>
                </a:lnTo>
                <a:lnTo>
                  <a:pt x="0" y="9138177"/>
                </a:lnTo>
                <a:lnTo>
                  <a:pt x="0" y="0"/>
                </a:lnTo>
                <a:close/>
              </a:path>
            </a:pathLst>
          </a:custGeom>
          <a:blipFill rotWithShape="1">
            <a:blip r:embed="rId3">
              <a:alphaModFix/>
            </a:blip>
            <a:stretch>
              <a:fillRect b="0" l="0" r="0" t="0"/>
            </a:stretch>
          </a:blipFill>
          <a:ln>
            <a:noFill/>
          </a:ln>
        </p:spPr>
      </p:sp>
      <p:sp>
        <p:nvSpPr>
          <p:cNvPr id="176" name="Google Shape;176;p10"/>
          <p:cNvSpPr txBox="1"/>
          <p:nvPr/>
        </p:nvSpPr>
        <p:spPr>
          <a:xfrm>
            <a:off x="4103136" y="63457"/>
            <a:ext cx="10081727" cy="117856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Architecture Diagram:</a:t>
            </a:r>
            <a:endParaRPr/>
          </a:p>
        </p:txBody>
      </p:sp>
      <p:cxnSp>
        <p:nvCxnSpPr>
          <p:cNvPr id="177" name="Google Shape;177;p10"/>
          <p:cNvCxnSpPr/>
          <p:nvPr/>
        </p:nvCxnSpPr>
        <p:spPr>
          <a:xfrm flipH="1">
            <a:off x="7620000" y="5827035"/>
            <a:ext cx="337845" cy="2265"/>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81" name="Shape 181"/>
        <p:cNvGrpSpPr/>
        <p:nvPr/>
      </p:nvGrpSpPr>
      <p:grpSpPr>
        <a:xfrm>
          <a:off x="0" y="0"/>
          <a:ext cx="0" cy="0"/>
          <a:chOff x="0" y="0"/>
          <a:chExt cx="0" cy="0"/>
        </a:xfrm>
      </p:grpSpPr>
      <p:sp>
        <p:nvSpPr>
          <p:cNvPr id="182" name="Google Shape;182;p11"/>
          <p:cNvSpPr txBox="1"/>
          <p:nvPr/>
        </p:nvSpPr>
        <p:spPr>
          <a:xfrm>
            <a:off x="1349094" y="2092325"/>
            <a:ext cx="15589812" cy="550561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Arial"/>
                <a:ea typeface="Arial"/>
                <a:cs typeface="Arial"/>
                <a:sym typeface="Arial"/>
              </a:rPr>
              <a:t>1.</a:t>
            </a:r>
            <a:r>
              <a:rPr b="1" i="0" lang="en-US" sz="3399" u="sng" cap="none" strike="noStrike">
                <a:solidFill>
                  <a:srgbClr val="000000"/>
                </a:solidFill>
                <a:latin typeface="Arial"/>
                <a:ea typeface="Arial"/>
                <a:cs typeface="Arial"/>
                <a:sym typeface="Arial"/>
              </a:rPr>
              <a:t> System Architecture Design</a:t>
            </a:r>
            <a:r>
              <a:rPr b="1" i="0" lang="en-US" sz="3399" u="none" cap="none" strike="noStrike">
                <a:solidFill>
                  <a:srgbClr val="000000"/>
                </a:solidFill>
                <a:latin typeface="Arial"/>
                <a:ea typeface="Arial"/>
                <a:cs typeface="Arial"/>
                <a:sym typeface="Arial"/>
              </a:rPr>
              <a:t>: The Smart Waste Management System consists of smart bins equipped with an ultrasonic sensor for waste level detection, an Arduino microcontroller for control logic, and data transmission.</a:t>
            </a:r>
            <a:endParaRPr/>
          </a:p>
          <a:p>
            <a:pPr indent="0" lvl="0" marL="0" marR="0" rtl="0" algn="just">
              <a:lnSpc>
                <a:spcPct val="140011"/>
              </a:lnSpc>
              <a:spcBef>
                <a:spcPts val="0"/>
              </a:spcBef>
              <a:spcAft>
                <a:spcPts val="0"/>
              </a:spcAft>
              <a:buNone/>
            </a:pPr>
            <a:r>
              <a:t/>
            </a:r>
            <a:endParaRPr b="1" i="0" sz="3399"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Arial"/>
                <a:ea typeface="Arial"/>
                <a:cs typeface="Arial"/>
                <a:sym typeface="Arial"/>
              </a:rPr>
              <a:t>2. </a:t>
            </a:r>
            <a:r>
              <a:rPr b="1" i="0" lang="en-US" sz="3399" u="sng" cap="none" strike="noStrike">
                <a:solidFill>
                  <a:srgbClr val="000000"/>
                </a:solidFill>
                <a:latin typeface="Arial"/>
                <a:ea typeface="Arial"/>
                <a:cs typeface="Arial"/>
                <a:sym typeface="Arial"/>
              </a:rPr>
              <a:t>Hardware Integration: </a:t>
            </a:r>
            <a:r>
              <a:rPr b="1" i="0" lang="en-US" sz="3399" u="none" cap="none" strike="noStrike">
                <a:solidFill>
                  <a:srgbClr val="000000"/>
                </a:solidFill>
                <a:latin typeface="Arial"/>
                <a:ea typeface="Arial"/>
                <a:cs typeface="Arial"/>
                <a:sym typeface="Arial"/>
              </a:rPr>
              <a:t>The Arduino board connects to the ultrasonic sensor for measuring waste levels, and  integrated servo motors. Testing of circuit connections is done using breadboards before final assembly.</a:t>
            </a:r>
            <a:endParaRPr/>
          </a:p>
          <a:p>
            <a:pPr indent="0" lvl="0" marL="0" marR="0" rtl="0" algn="ctr">
              <a:lnSpc>
                <a:spcPct val="148278"/>
              </a:lnSpc>
              <a:spcBef>
                <a:spcPts val="0"/>
              </a:spcBef>
              <a:spcAft>
                <a:spcPts val="0"/>
              </a:spcAft>
              <a:buNone/>
            </a:pPr>
            <a:r>
              <a:t/>
            </a:r>
            <a:endParaRPr b="1" i="0" sz="3399" u="none" cap="none" strike="noStrike">
              <a:solidFill>
                <a:srgbClr val="000000"/>
              </a:solidFill>
              <a:latin typeface="Arial"/>
              <a:ea typeface="Arial"/>
              <a:cs typeface="Arial"/>
              <a:sym typeface="Arial"/>
            </a:endParaRPr>
          </a:p>
        </p:txBody>
      </p:sp>
      <p:sp>
        <p:nvSpPr>
          <p:cNvPr id="183" name="Google Shape;183;p11"/>
          <p:cNvSpPr txBox="1"/>
          <p:nvPr/>
        </p:nvSpPr>
        <p:spPr>
          <a:xfrm>
            <a:off x="6209050" y="382270"/>
            <a:ext cx="6211550" cy="1038746"/>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Methodology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87" name="Shape 187"/>
        <p:cNvGrpSpPr/>
        <p:nvPr/>
      </p:nvGrpSpPr>
      <p:grpSpPr>
        <a:xfrm>
          <a:off x="0" y="0"/>
          <a:ext cx="0" cy="0"/>
          <a:chOff x="0" y="0"/>
          <a:chExt cx="0" cy="0"/>
        </a:xfrm>
      </p:grpSpPr>
      <p:sp>
        <p:nvSpPr>
          <p:cNvPr id="188" name="Google Shape;188;p12"/>
          <p:cNvSpPr txBox="1"/>
          <p:nvPr/>
        </p:nvSpPr>
        <p:spPr>
          <a:xfrm>
            <a:off x="1322180" y="1561669"/>
            <a:ext cx="16280020" cy="7948586"/>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i="0" lang="en-US" sz="3399" u="none" cap="none" strike="noStrike">
                <a:solidFill>
                  <a:srgbClr val="000000"/>
                </a:solidFill>
                <a:latin typeface="Arial"/>
                <a:ea typeface="Arial"/>
                <a:cs typeface="Arial"/>
                <a:sym typeface="Arial"/>
              </a:rPr>
              <a:t>3. </a:t>
            </a:r>
            <a:r>
              <a:rPr b="1" i="0" lang="en-US" sz="3399" u="sng" cap="none" strike="noStrike">
                <a:solidFill>
                  <a:srgbClr val="000000"/>
                </a:solidFill>
                <a:latin typeface="Arial"/>
                <a:ea typeface="Arial"/>
                <a:cs typeface="Arial"/>
                <a:sym typeface="Arial"/>
              </a:rPr>
              <a:t>Software Development</a:t>
            </a:r>
            <a:r>
              <a:rPr b="1" i="0" lang="en-US" sz="3399" u="none" cap="none" strike="noStrike">
                <a:solidFill>
                  <a:srgbClr val="000000"/>
                </a:solidFill>
                <a:latin typeface="Arial"/>
                <a:ea typeface="Arial"/>
                <a:cs typeface="Arial"/>
                <a:sym typeface="Arial"/>
              </a:rPr>
              <a:t>: Firmware development using Arduino IDE includes initializing sensors, measuring waste levels, sending live-data to the web application, and displays when bins are full. Conditional logic defines the waste level states based on sensor readings.</a:t>
            </a:r>
            <a:endParaRPr/>
          </a:p>
          <a:p>
            <a:pPr indent="0" lvl="0" marL="0" marR="0" rtl="0" algn="l">
              <a:lnSpc>
                <a:spcPct val="140011"/>
              </a:lnSpc>
              <a:spcBef>
                <a:spcPts val="0"/>
              </a:spcBef>
              <a:spcAft>
                <a:spcPts val="0"/>
              </a:spcAft>
              <a:buNone/>
            </a:pPr>
            <a:r>
              <a:t/>
            </a:r>
            <a:endParaRPr b="1" i="0" sz="3399" u="none" cap="none" strike="noStrike">
              <a:solidFill>
                <a:srgbClr val="000000"/>
              </a:solidFill>
              <a:latin typeface="Arial"/>
              <a:ea typeface="Arial"/>
              <a:cs typeface="Arial"/>
              <a:sym typeface="Arial"/>
            </a:endParaRPr>
          </a:p>
          <a:p>
            <a:pPr indent="0" lvl="0" marL="0" marR="0" rtl="0" algn="l">
              <a:lnSpc>
                <a:spcPct val="140011"/>
              </a:lnSpc>
              <a:spcBef>
                <a:spcPts val="0"/>
              </a:spcBef>
              <a:spcAft>
                <a:spcPts val="0"/>
              </a:spcAft>
              <a:buNone/>
            </a:pPr>
            <a:r>
              <a:rPr b="1" i="0" lang="en-US" sz="3399" u="none" cap="none" strike="noStrike">
                <a:solidFill>
                  <a:srgbClr val="000000"/>
                </a:solidFill>
                <a:latin typeface="Arial"/>
                <a:ea typeface="Arial"/>
                <a:cs typeface="Arial"/>
                <a:sym typeface="Arial"/>
              </a:rPr>
              <a:t>4. </a:t>
            </a:r>
            <a:r>
              <a:rPr b="1" i="0" lang="en-US" sz="3399" u="sng" cap="none" strike="noStrike">
                <a:solidFill>
                  <a:srgbClr val="000000"/>
                </a:solidFill>
                <a:latin typeface="Arial"/>
                <a:ea typeface="Arial"/>
                <a:cs typeface="Arial"/>
                <a:sym typeface="Arial"/>
              </a:rPr>
              <a:t>Cloud Integration and Data Monitoring:</a:t>
            </a:r>
            <a:r>
              <a:rPr b="1" i="0" lang="en-US" sz="3399" u="none" cap="none" strike="noStrike">
                <a:solidFill>
                  <a:srgbClr val="000000"/>
                </a:solidFill>
                <a:latin typeface="Arial"/>
                <a:ea typeface="Arial"/>
                <a:cs typeface="Arial"/>
                <a:sym typeface="Arial"/>
              </a:rPr>
              <a:t> A cloud IoT platform is employed to display live-data, visualize waste levels, and show when bins are full.</a:t>
            </a:r>
            <a:endParaRPr/>
          </a:p>
          <a:p>
            <a:pPr indent="0" lvl="0" marL="0" marR="0" rtl="0" algn="l">
              <a:lnSpc>
                <a:spcPct val="140011"/>
              </a:lnSpc>
              <a:spcBef>
                <a:spcPts val="0"/>
              </a:spcBef>
              <a:spcAft>
                <a:spcPts val="0"/>
              </a:spcAft>
              <a:buNone/>
            </a:pPr>
            <a:r>
              <a:t/>
            </a:r>
            <a:endParaRPr b="1" i="0" sz="3399" u="none" cap="none" strike="noStrike">
              <a:solidFill>
                <a:srgbClr val="000000"/>
              </a:solidFill>
              <a:latin typeface="Arial"/>
              <a:ea typeface="Arial"/>
              <a:cs typeface="Arial"/>
              <a:sym typeface="Arial"/>
            </a:endParaRPr>
          </a:p>
          <a:p>
            <a:pPr indent="0" lvl="0" marL="0" marR="0" rtl="0" algn="l">
              <a:lnSpc>
                <a:spcPct val="140011"/>
              </a:lnSpc>
              <a:spcBef>
                <a:spcPts val="0"/>
              </a:spcBef>
              <a:spcAft>
                <a:spcPts val="0"/>
              </a:spcAft>
              <a:buNone/>
            </a:pPr>
            <a:r>
              <a:rPr b="1" i="0" lang="en-US" sz="3399" u="none" cap="none" strike="noStrike">
                <a:solidFill>
                  <a:srgbClr val="000000"/>
                </a:solidFill>
                <a:latin typeface="Arial"/>
                <a:ea typeface="Arial"/>
                <a:cs typeface="Arial"/>
                <a:sym typeface="Arial"/>
              </a:rPr>
              <a:t>5. </a:t>
            </a:r>
            <a:r>
              <a:rPr b="1" i="0" lang="en-US" sz="3399" u="sng" cap="none" strike="noStrike">
                <a:solidFill>
                  <a:srgbClr val="000000"/>
                </a:solidFill>
                <a:latin typeface="Arial"/>
                <a:ea typeface="Arial"/>
                <a:cs typeface="Arial"/>
                <a:sym typeface="Arial"/>
              </a:rPr>
              <a:t>Mobile/Web Application Interface and Testing:</a:t>
            </a:r>
            <a:r>
              <a:rPr b="1" i="0" lang="en-US" sz="3399" u="none" cap="none" strike="noStrike">
                <a:solidFill>
                  <a:srgbClr val="000000"/>
                </a:solidFill>
                <a:latin typeface="Arial"/>
                <a:ea typeface="Arial"/>
                <a:cs typeface="Arial"/>
                <a:sym typeface="Arial"/>
              </a:rPr>
              <a:t> A dashboard for monitoring live-time status, displaying alerts, and assisting in route optimization for collection vehicles is developed by using XAMPP, PHP and HTML. The system undergoes testing in a limited area to evaluate sensor accuracy, data transmission, power consumption, and environmental durability.</a:t>
            </a:r>
            <a:endParaRPr/>
          </a:p>
        </p:txBody>
      </p:sp>
      <p:sp>
        <p:nvSpPr>
          <p:cNvPr id="189" name="Google Shape;189;p12"/>
          <p:cNvSpPr txBox="1"/>
          <p:nvPr/>
        </p:nvSpPr>
        <p:spPr>
          <a:xfrm>
            <a:off x="6190000" y="294754"/>
            <a:ext cx="6459200" cy="1038746"/>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Methodology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93" name="Shape 193"/>
        <p:cNvGrpSpPr/>
        <p:nvPr/>
      </p:nvGrpSpPr>
      <p:grpSpPr>
        <a:xfrm>
          <a:off x="0" y="0"/>
          <a:ext cx="0" cy="0"/>
          <a:chOff x="0" y="0"/>
          <a:chExt cx="0" cy="0"/>
        </a:xfrm>
      </p:grpSpPr>
      <p:sp>
        <p:nvSpPr>
          <p:cNvPr id="194" name="Google Shape;194;p13"/>
          <p:cNvSpPr txBox="1"/>
          <p:nvPr/>
        </p:nvSpPr>
        <p:spPr>
          <a:xfrm>
            <a:off x="5105410" y="914400"/>
            <a:ext cx="7021200" cy="107760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1" lang="en-US" sz="7000">
                <a:solidFill>
                  <a:srgbClr val="134E1A"/>
                </a:solidFill>
              </a:rPr>
              <a:t>Implementation</a:t>
            </a:r>
            <a:endParaRPr/>
          </a:p>
        </p:txBody>
      </p:sp>
      <p:sp>
        <p:nvSpPr>
          <p:cNvPr id="195" name="Google Shape;195;p13"/>
          <p:cNvSpPr txBox="1"/>
          <p:nvPr/>
        </p:nvSpPr>
        <p:spPr>
          <a:xfrm>
            <a:off x="1966262" y="3058154"/>
            <a:ext cx="13299508" cy="35693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00" u="none" cap="none" strike="noStrike">
                <a:solidFill>
                  <a:srgbClr val="000000"/>
                </a:solidFill>
                <a:latin typeface="Arial"/>
                <a:ea typeface="Arial"/>
                <a:cs typeface="Arial"/>
                <a:sym typeface="Arial"/>
              </a:rPr>
              <a:t>✅ Smart bins detect and report waste levels in real-time.</a:t>
            </a:r>
            <a:endParaRPr/>
          </a:p>
          <a:p>
            <a:pPr indent="0" lvl="0" marL="0" marR="0" rtl="0" algn="l">
              <a:lnSpc>
                <a:spcPct val="140000"/>
              </a:lnSpc>
              <a:spcBef>
                <a:spcPts val="0"/>
              </a:spcBef>
              <a:spcAft>
                <a:spcPts val="0"/>
              </a:spcAft>
              <a:buNone/>
            </a:pPr>
            <a:r>
              <a:rPr b="1" i="0" lang="en-US" sz="3500" u="none" cap="none" strike="noStrike">
                <a:solidFill>
                  <a:srgbClr val="000000"/>
                </a:solidFill>
                <a:latin typeface="Arial"/>
                <a:ea typeface="Arial"/>
                <a:cs typeface="Arial"/>
                <a:sym typeface="Arial"/>
              </a:rPr>
              <a:t>✅ Alerts prevent overflow, keeping areas clean and hygienic.</a:t>
            </a:r>
            <a:endParaRPr/>
          </a:p>
          <a:p>
            <a:pPr indent="0" lvl="0" marL="0" marR="0" rtl="0" algn="l">
              <a:lnSpc>
                <a:spcPct val="140000"/>
              </a:lnSpc>
              <a:spcBef>
                <a:spcPts val="0"/>
              </a:spcBef>
              <a:spcAft>
                <a:spcPts val="0"/>
              </a:spcAft>
              <a:buNone/>
            </a:pPr>
            <a:r>
              <a:rPr b="1" i="0" lang="en-US" sz="3500" u="none" cap="none" strike="noStrike">
                <a:solidFill>
                  <a:srgbClr val="000000"/>
                </a:solidFill>
                <a:latin typeface="Arial"/>
                <a:ea typeface="Arial"/>
                <a:cs typeface="Arial"/>
                <a:sym typeface="Arial"/>
              </a:rPr>
              <a:t>✅ Encourages recycling and public participation.</a:t>
            </a:r>
            <a:endParaRPr/>
          </a:p>
          <a:p>
            <a:pPr indent="0" lvl="0" marL="0" marR="0" rtl="0" algn="l">
              <a:lnSpc>
                <a:spcPct val="140000"/>
              </a:lnSpc>
              <a:spcBef>
                <a:spcPts val="0"/>
              </a:spcBef>
              <a:spcAft>
                <a:spcPts val="0"/>
              </a:spcAft>
              <a:buNone/>
            </a:pPr>
            <a:r>
              <a:rPr b="1" i="0" lang="en-US" sz="3500" u="none" cap="none" strike="noStrike">
                <a:solidFill>
                  <a:srgbClr val="000000"/>
                </a:solidFill>
                <a:latin typeface="Arial"/>
                <a:ea typeface="Arial"/>
                <a:cs typeface="Arial"/>
                <a:sym typeface="Arial"/>
              </a:rPr>
              <a:t>This system makes waste management smarter, cleaner, and more efficient! 🚮♻️</a:t>
            </a:r>
            <a:endParaRPr/>
          </a:p>
          <a:p>
            <a:pPr indent="0" lvl="0" marL="0" marR="0" rtl="0" algn="l">
              <a:lnSpc>
                <a:spcPct val="108000"/>
              </a:lnSpc>
              <a:spcBef>
                <a:spcPts val="0"/>
              </a:spcBef>
              <a:spcAft>
                <a:spcPts val="0"/>
              </a:spcAft>
              <a:buNone/>
            </a:pPr>
            <a:r>
              <a:t/>
            </a:r>
            <a:endParaRPr b="1" i="0" sz="3500" u="none" cap="none" strike="noStrike">
              <a:solidFill>
                <a:srgbClr val="000000"/>
              </a:solidFill>
              <a:latin typeface="Arial"/>
              <a:ea typeface="Arial"/>
              <a:cs typeface="Arial"/>
              <a:sym typeface="Arial"/>
            </a:endParaRPr>
          </a:p>
        </p:txBody>
      </p:sp>
      <p:grpSp>
        <p:nvGrpSpPr>
          <p:cNvPr id="196" name="Google Shape;196;p13"/>
          <p:cNvGrpSpPr/>
          <p:nvPr/>
        </p:nvGrpSpPr>
        <p:grpSpPr>
          <a:xfrm>
            <a:off x="-1737669" y="7096491"/>
            <a:ext cx="4765507" cy="4865433"/>
            <a:chOff x="0" y="-2624"/>
            <a:chExt cx="572235" cy="584234"/>
          </a:xfrm>
        </p:grpSpPr>
        <p:sp>
          <p:nvSpPr>
            <p:cNvPr id="197" name="Google Shape;197;p13"/>
            <p:cNvSpPr/>
            <p:nvPr/>
          </p:nvSpPr>
          <p:spPr>
            <a:xfrm>
              <a:off x="0" y="0"/>
              <a:ext cx="572235" cy="581610"/>
            </a:xfrm>
            <a:custGeom>
              <a:rect b="b" l="l" r="r" t="t"/>
              <a:pathLst>
                <a:path extrusionOk="0" h="581610" w="572235">
                  <a:moveTo>
                    <a:pt x="286118" y="0"/>
                  </a:moveTo>
                  <a:cubicBezTo>
                    <a:pt x="128099" y="0"/>
                    <a:pt x="0" y="130198"/>
                    <a:pt x="0" y="290805"/>
                  </a:cubicBezTo>
                  <a:cubicBezTo>
                    <a:pt x="0" y="451412"/>
                    <a:pt x="128099" y="581610"/>
                    <a:pt x="286118" y="581610"/>
                  </a:cubicBezTo>
                  <a:cubicBezTo>
                    <a:pt x="444136" y="581610"/>
                    <a:pt x="572235" y="451412"/>
                    <a:pt x="572235" y="290805"/>
                  </a:cubicBezTo>
                  <a:cubicBezTo>
                    <a:pt x="572235" y="130198"/>
                    <a:pt x="444136" y="0"/>
                    <a:pt x="286118"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txBox="1"/>
            <p:nvPr/>
          </p:nvSpPr>
          <p:spPr>
            <a:xfrm>
              <a:off x="53647" y="-2624"/>
              <a:ext cx="464941" cy="529708"/>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02" name="Shape 202"/>
        <p:cNvGrpSpPr/>
        <p:nvPr/>
      </p:nvGrpSpPr>
      <p:grpSpPr>
        <a:xfrm>
          <a:off x="0" y="0"/>
          <a:ext cx="0" cy="0"/>
          <a:chOff x="0" y="0"/>
          <a:chExt cx="0" cy="0"/>
        </a:xfrm>
      </p:grpSpPr>
      <p:sp>
        <p:nvSpPr>
          <p:cNvPr id="203" name="Google Shape;203;p14"/>
          <p:cNvSpPr/>
          <p:nvPr/>
        </p:nvSpPr>
        <p:spPr>
          <a:xfrm>
            <a:off x="1028700" y="2216746"/>
            <a:ext cx="3916576" cy="6233367"/>
          </a:xfrm>
          <a:custGeom>
            <a:rect b="b" l="l" r="r" t="t"/>
            <a:pathLst>
              <a:path extrusionOk="0" h="6233367" w="3916576">
                <a:moveTo>
                  <a:pt x="0" y="0"/>
                </a:moveTo>
                <a:lnTo>
                  <a:pt x="3916576" y="0"/>
                </a:lnTo>
                <a:lnTo>
                  <a:pt x="3916576" y="6233367"/>
                </a:lnTo>
                <a:lnTo>
                  <a:pt x="0" y="6233367"/>
                </a:lnTo>
                <a:lnTo>
                  <a:pt x="0" y="0"/>
                </a:lnTo>
                <a:close/>
              </a:path>
            </a:pathLst>
          </a:custGeom>
          <a:blipFill rotWithShape="1">
            <a:blip r:embed="rId3">
              <a:alphaModFix/>
            </a:blip>
            <a:stretch>
              <a:fillRect b="-13650" l="-1518" r="0" t="0"/>
            </a:stretch>
          </a:blipFill>
          <a:ln>
            <a:noFill/>
          </a:ln>
        </p:spPr>
      </p:sp>
      <p:sp>
        <p:nvSpPr>
          <p:cNvPr id="204" name="Google Shape;204;p14"/>
          <p:cNvSpPr/>
          <p:nvPr/>
        </p:nvSpPr>
        <p:spPr>
          <a:xfrm>
            <a:off x="5633394" y="2346825"/>
            <a:ext cx="4995452" cy="6268974"/>
          </a:xfrm>
          <a:custGeom>
            <a:rect b="b" l="l" r="r" t="t"/>
            <a:pathLst>
              <a:path extrusionOk="0" h="6268974" w="4995452">
                <a:moveTo>
                  <a:pt x="0" y="0"/>
                </a:moveTo>
                <a:lnTo>
                  <a:pt x="4995452" y="0"/>
                </a:lnTo>
                <a:lnTo>
                  <a:pt x="4995452" y="6268973"/>
                </a:lnTo>
                <a:lnTo>
                  <a:pt x="0" y="6268973"/>
                </a:lnTo>
                <a:lnTo>
                  <a:pt x="0" y="0"/>
                </a:lnTo>
                <a:close/>
              </a:path>
            </a:pathLst>
          </a:custGeom>
          <a:blipFill rotWithShape="1">
            <a:blip r:embed="rId4">
              <a:alphaModFix/>
            </a:blip>
            <a:stretch>
              <a:fillRect b="-6422" l="0" r="0" t="0"/>
            </a:stretch>
          </a:blipFill>
          <a:ln>
            <a:noFill/>
          </a:ln>
        </p:spPr>
      </p:sp>
      <p:sp>
        <p:nvSpPr>
          <p:cNvPr id="205" name="Google Shape;205;p14"/>
          <p:cNvSpPr/>
          <p:nvPr/>
        </p:nvSpPr>
        <p:spPr>
          <a:xfrm>
            <a:off x="11059959" y="2988598"/>
            <a:ext cx="6508565" cy="4662764"/>
          </a:xfrm>
          <a:custGeom>
            <a:rect b="b" l="l" r="r" t="t"/>
            <a:pathLst>
              <a:path extrusionOk="0" h="4662764" w="6508565">
                <a:moveTo>
                  <a:pt x="0" y="0"/>
                </a:moveTo>
                <a:lnTo>
                  <a:pt x="6508566" y="0"/>
                </a:lnTo>
                <a:lnTo>
                  <a:pt x="6508566" y="4662765"/>
                </a:lnTo>
                <a:lnTo>
                  <a:pt x="0" y="4662765"/>
                </a:lnTo>
                <a:lnTo>
                  <a:pt x="0" y="0"/>
                </a:lnTo>
                <a:close/>
              </a:path>
            </a:pathLst>
          </a:custGeom>
          <a:blipFill rotWithShape="1">
            <a:blip r:embed="rId5">
              <a:alphaModFix/>
            </a:blip>
            <a:stretch>
              <a:fillRect b="-30446" l="-9948" r="0" t="-6719"/>
            </a:stretch>
          </a:blipFill>
          <a:ln>
            <a:noFill/>
          </a:ln>
        </p:spPr>
      </p:sp>
      <p:sp>
        <p:nvSpPr>
          <p:cNvPr id="206" name="Google Shape;206;p14"/>
          <p:cNvSpPr txBox="1"/>
          <p:nvPr/>
        </p:nvSpPr>
        <p:spPr>
          <a:xfrm>
            <a:off x="5633394" y="382270"/>
            <a:ext cx="7021213"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Result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10" name="Shape 210"/>
        <p:cNvGrpSpPr/>
        <p:nvPr/>
      </p:nvGrpSpPr>
      <p:grpSpPr>
        <a:xfrm>
          <a:off x="0" y="0"/>
          <a:ext cx="0" cy="0"/>
          <a:chOff x="0" y="0"/>
          <a:chExt cx="0" cy="0"/>
        </a:xfrm>
      </p:grpSpPr>
      <p:sp>
        <p:nvSpPr>
          <p:cNvPr id="211" name="Google Shape;211;p15"/>
          <p:cNvSpPr txBox="1"/>
          <p:nvPr/>
        </p:nvSpPr>
        <p:spPr>
          <a:xfrm>
            <a:off x="5652444" y="382270"/>
            <a:ext cx="7021213"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Limitations</a:t>
            </a:r>
            <a:endParaRPr/>
          </a:p>
        </p:txBody>
      </p:sp>
      <p:sp>
        <p:nvSpPr>
          <p:cNvPr id="212" name="Google Shape;212;p15"/>
          <p:cNvSpPr txBox="1"/>
          <p:nvPr/>
        </p:nvSpPr>
        <p:spPr>
          <a:xfrm>
            <a:off x="1373722" y="1702834"/>
            <a:ext cx="15540557" cy="7719725"/>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 • Power Dependency:  The system relies on a battery or an external power source. In remote areas, this might be impractical unless solar power is implemented.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 Sensor Reliability: Ultrasonic and moisture sensors can give inaccurate readings due to environmental conditions (e.g., wet dustbins, sensor misalignment, obstructed surfaces).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 Moisture Detection Ambiguity: Moisture level alone might not always accurately classify waste as wet or dry (e.g., a wet plastic wrapper).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 Usability: Each bin is different from our prototype. Trying to achieve a city-wide level requires more infrastructure for managing hundreds of bins. </a:t>
            </a:r>
            <a:endParaRPr/>
          </a:p>
        </p:txBody>
      </p:sp>
      <p:grpSp>
        <p:nvGrpSpPr>
          <p:cNvPr id="213" name="Google Shape;213;p15"/>
          <p:cNvGrpSpPr/>
          <p:nvPr/>
        </p:nvGrpSpPr>
        <p:grpSpPr>
          <a:xfrm>
            <a:off x="16252705" y="7265528"/>
            <a:ext cx="4765507" cy="4865433"/>
            <a:chOff x="0" y="-2624"/>
            <a:chExt cx="572235" cy="584234"/>
          </a:xfrm>
        </p:grpSpPr>
        <p:sp>
          <p:nvSpPr>
            <p:cNvPr id="214" name="Google Shape;214;p15"/>
            <p:cNvSpPr/>
            <p:nvPr/>
          </p:nvSpPr>
          <p:spPr>
            <a:xfrm>
              <a:off x="0" y="0"/>
              <a:ext cx="572235" cy="581610"/>
            </a:xfrm>
            <a:custGeom>
              <a:rect b="b" l="l" r="r" t="t"/>
              <a:pathLst>
                <a:path extrusionOk="0" h="581610" w="572235">
                  <a:moveTo>
                    <a:pt x="286118" y="0"/>
                  </a:moveTo>
                  <a:cubicBezTo>
                    <a:pt x="128099" y="0"/>
                    <a:pt x="0" y="130198"/>
                    <a:pt x="0" y="290805"/>
                  </a:cubicBezTo>
                  <a:cubicBezTo>
                    <a:pt x="0" y="451412"/>
                    <a:pt x="128099" y="581610"/>
                    <a:pt x="286118" y="581610"/>
                  </a:cubicBezTo>
                  <a:cubicBezTo>
                    <a:pt x="444136" y="581610"/>
                    <a:pt x="572235" y="451412"/>
                    <a:pt x="572235" y="290805"/>
                  </a:cubicBezTo>
                  <a:cubicBezTo>
                    <a:pt x="572235" y="130198"/>
                    <a:pt x="444136" y="0"/>
                    <a:pt x="286118"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txBox="1"/>
            <p:nvPr/>
          </p:nvSpPr>
          <p:spPr>
            <a:xfrm>
              <a:off x="53647" y="-2624"/>
              <a:ext cx="464941" cy="529708"/>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19" name="Shape 219"/>
        <p:cNvGrpSpPr/>
        <p:nvPr/>
      </p:nvGrpSpPr>
      <p:grpSpPr>
        <a:xfrm>
          <a:off x="0" y="0"/>
          <a:ext cx="0" cy="0"/>
          <a:chOff x="0" y="0"/>
          <a:chExt cx="0" cy="0"/>
        </a:xfrm>
      </p:grpSpPr>
      <p:sp>
        <p:nvSpPr>
          <p:cNvPr id="220" name="Google Shape;220;p16"/>
          <p:cNvSpPr txBox="1"/>
          <p:nvPr/>
        </p:nvSpPr>
        <p:spPr>
          <a:xfrm>
            <a:off x="5633394" y="382270"/>
            <a:ext cx="7021213"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Conclusion</a:t>
            </a:r>
            <a:endParaRPr/>
          </a:p>
        </p:txBody>
      </p:sp>
      <p:sp>
        <p:nvSpPr>
          <p:cNvPr id="221" name="Google Shape;221;p16"/>
          <p:cNvSpPr txBox="1"/>
          <p:nvPr/>
        </p:nvSpPr>
        <p:spPr>
          <a:xfrm>
            <a:off x="1373722" y="1702834"/>
            <a:ext cx="15540557" cy="7667733"/>
          </a:xfrm>
          <a:prstGeom prst="rect">
            <a:avLst/>
          </a:prstGeom>
          <a:noFill/>
          <a:ln>
            <a:noFill/>
          </a:ln>
        </p:spPr>
        <p:txBody>
          <a:bodyPr anchorCtr="0" anchor="t" bIns="0" lIns="0" spcFirstLastPara="1" rIns="0" wrap="square" tIns="0">
            <a:spAutoFit/>
          </a:bodyPr>
          <a:lstStyle/>
          <a:p>
            <a:pPr indent="-363872" lvl="1" marL="727744" marR="0" rtl="0" algn="l">
              <a:lnSpc>
                <a:spcPct val="140029"/>
              </a:lnSpc>
              <a:spcBef>
                <a:spcPts val="0"/>
              </a:spcBef>
              <a:spcAft>
                <a:spcPts val="0"/>
              </a:spcAft>
              <a:buClr>
                <a:srgbClr val="000000"/>
              </a:buClr>
              <a:buSzPts val="3370"/>
              <a:buFont typeface="Arial"/>
              <a:buChar char="•"/>
            </a:pPr>
            <a:r>
              <a:rPr b="1" i="0" lang="en-US" sz="3370" u="none" cap="none" strike="noStrike">
                <a:solidFill>
                  <a:srgbClr val="000000"/>
                </a:solidFill>
                <a:latin typeface="Arial"/>
                <a:ea typeface="Arial"/>
                <a:cs typeface="Arial"/>
                <a:sym typeface="Arial"/>
              </a:rPr>
              <a:t>In conclusion, this project illustrates the integration of creativity, technical expertise, and problem-solving skills to develop a tangible solution for waste management.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363872" lvl="1" marL="727744" marR="0" rtl="0" algn="l">
              <a:lnSpc>
                <a:spcPct val="140029"/>
              </a:lnSpc>
              <a:spcBef>
                <a:spcPts val="0"/>
              </a:spcBef>
              <a:spcAft>
                <a:spcPts val="0"/>
              </a:spcAft>
              <a:buClr>
                <a:srgbClr val="000000"/>
              </a:buClr>
              <a:buSzPts val="3370"/>
              <a:buFont typeface="Arial"/>
              <a:buChar char="•"/>
            </a:pPr>
            <a:r>
              <a:rPr b="1" i="0" lang="en-US" sz="3370" u="none" cap="none" strike="noStrike">
                <a:solidFill>
                  <a:srgbClr val="000000"/>
                </a:solidFill>
                <a:latin typeface="Arial"/>
                <a:ea typeface="Arial"/>
                <a:cs typeface="Arial"/>
                <a:sym typeface="Arial"/>
              </a:rPr>
              <a:t>By leveraging low-cost technologies, we’ve created an intelligent dustbin system that enhances sanitation practices and optimizes waste collection processes. The journey highlighted the significant potential of IoT in simplifying our daily challenges.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363872" lvl="1" marL="727744" marR="0" rtl="0" algn="l">
              <a:lnSpc>
                <a:spcPct val="140029"/>
              </a:lnSpc>
              <a:spcBef>
                <a:spcPts val="0"/>
              </a:spcBef>
              <a:spcAft>
                <a:spcPts val="0"/>
              </a:spcAft>
              <a:buClr>
                <a:srgbClr val="000000"/>
              </a:buClr>
              <a:buSzPts val="3370"/>
              <a:buFont typeface="Arial"/>
              <a:buChar char="•"/>
            </a:pPr>
            <a:r>
              <a:rPr b="1" i="0" lang="en-US" sz="3370" u="none" cap="none" strike="noStrike">
                <a:solidFill>
                  <a:srgbClr val="000000"/>
                </a:solidFill>
                <a:latin typeface="Arial"/>
                <a:ea typeface="Arial"/>
                <a:cs typeface="Arial"/>
                <a:sym typeface="Arial"/>
              </a:rPr>
              <a:t>While there is always room for improvement, such as incorporating solar power and machine learning for waste classification, this initiative lays a solid foundation for further innovations in creating smarter and more sustainable waste management solutions in the future.</a:t>
            </a:r>
            <a:endParaRPr/>
          </a:p>
        </p:txBody>
      </p:sp>
      <p:grpSp>
        <p:nvGrpSpPr>
          <p:cNvPr id="222" name="Google Shape;222;p16"/>
          <p:cNvGrpSpPr/>
          <p:nvPr/>
        </p:nvGrpSpPr>
        <p:grpSpPr>
          <a:xfrm>
            <a:off x="16252705" y="7265528"/>
            <a:ext cx="4765507" cy="4865433"/>
            <a:chOff x="0" y="-2624"/>
            <a:chExt cx="572235" cy="584234"/>
          </a:xfrm>
        </p:grpSpPr>
        <p:sp>
          <p:nvSpPr>
            <p:cNvPr id="223" name="Google Shape;223;p16"/>
            <p:cNvSpPr/>
            <p:nvPr/>
          </p:nvSpPr>
          <p:spPr>
            <a:xfrm>
              <a:off x="0" y="0"/>
              <a:ext cx="572235" cy="581610"/>
            </a:xfrm>
            <a:custGeom>
              <a:rect b="b" l="l" r="r" t="t"/>
              <a:pathLst>
                <a:path extrusionOk="0" h="581610" w="572235">
                  <a:moveTo>
                    <a:pt x="286118" y="0"/>
                  </a:moveTo>
                  <a:cubicBezTo>
                    <a:pt x="128099" y="0"/>
                    <a:pt x="0" y="130198"/>
                    <a:pt x="0" y="290805"/>
                  </a:cubicBezTo>
                  <a:cubicBezTo>
                    <a:pt x="0" y="451412"/>
                    <a:pt x="128099" y="581610"/>
                    <a:pt x="286118" y="581610"/>
                  </a:cubicBezTo>
                  <a:cubicBezTo>
                    <a:pt x="444136" y="581610"/>
                    <a:pt x="572235" y="451412"/>
                    <a:pt x="572235" y="290805"/>
                  </a:cubicBezTo>
                  <a:cubicBezTo>
                    <a:pt x="572235" y="130198"/>
                    <a:pt x="444136" y="0"/>
                    <a:pt x="286118"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txBox="1"/>
            <p:nvPr/>
          </p:nvSpPr>
          <p:spPr>
            <a:xfrm>
              <a:off x="53647" y="-2624"/>
              <a:ext cx="464941" cy="529708"/>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28" name="Shape 228"/>
        <p:cNvGrpSpPr/>
        <p:nvPr/>
      </p:nvGrpSpPr>
      <p:grpSpPr>
        <a:xfrm>
          <a:off x="0" y="0"/>
          <a:ext cx="0" cy="0"/>
          <a:chOff x="0" y="0"/>
          <a:chExt cx="0" cy="0"/>
        </a:xfrm>
      </p:grpSpPr>
      <p:sp>
        <p:nvSpPr>
          <p:cNvPr id="229" name="Google Shape;229;p17"/>
          <p:cNvSpPr txBox="1"/>
          <p:nvPr/>
        </p:nvSpPr>
        <p:spPr>
          <a:xfrm>
            <a:off x="3701541" y="382270"/>
            <a:ext cx="10884917"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Future Enhancements</a:t>
            </a:r>
            <a:endParaRPr/>
          </a:p>
        </p:txBody>
      </p:sp>
      <p:sp>
        <p:nvSpPr>
          <p:cNvPr id="230" name="Google Shape;230;p17"/>
          <p:cNvSpPr txBox="1"/>
          <p:nvPr/>
        </p:nvSpPr>
        <p:spPr>
          <a:xfrm>
            <a:off x="1373722" y="1702834"/>
            <a:ext cx="15540557" cy="7667733"/>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1. </a:t>
            </a:r>
            <a:r>
              <a:rPr b="1" i="0" lang="en-US" sz="3370" u="sng" cap="none" strike="noStrike">
                <a:solidFill>
                  <a:srgbClr val="000000"/>
                </a:solidFill>
                <a:latin typeface="Arial"/>
                <a:ea typeface="Arial"/>
                <a:cs typeface="Arial"/>
                <a:sym typeface="Arial"/>
              </a:rPr>
              <a:t>Solar Power:</a:t>
            </a:r>
            <a:r>
              <a:rPr b="1" i="0" lang="en-US" sz="3370" u="none" cap="none" strike="noStrike">
                <a:solidFill>
                  <a:srgbClr val="000000"/>
                </a:solidFill>
                <a:latin typeface="Arial"/>
                <a:ea typeface="Arial"/>
                <a:cs typeface="Arial"/>
                <a:sym typeface="Arial"/>
              </a:rPr>
              <a:t> Autonomous operation with solar panels.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2. </a:t>
            </a:r>
            <a:r>
              <a:rPr b="1" i="0" lang="en-US" sz="3370" u="sng" cap="none" strike="noStrike">
                <a:solidFill>
                  <a:srgbClr val="000000"/>
                </a:solidFill>
                <a:latin typeface="Arial"/>
                <a:ea typeface="Arial"/>
                <a:cs typeface="Arial"/>
                <a:sym typeface="Arial"/>
              </a:rPr>
              <a:t>AI Classification: </a:t>
            </a:r>
            <a:r>
              <a:rPr b="1" i="0" lang="en-US" sz="3370" u="none" cap="none" strike="noStrike">
                <a:solidFill>
                  <a:srgbClr val="000000"/>
                </a:solidFill>
                <a:latin typeface="Arial"/>
                <a:ea typeface="Arial"/>
                <a:cs typeface="Arial"/>
                <a:sym typeface="Arial"/>
              </a:rPr>
              <a:t>Automated waste type sorting for better recycling.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3. </a:t>
            </a:r>
            <a:r>
              <a:rPr b="1" i="0" lang="en-US" sz="3370" u="sng" cap="none" strike="noStrike">
                <a:solidFill>
                  <a:srgbClr val="000000"/>
                </a:solidFill>
                <a:latin typeface="Arial"/>
                <a:ea typeface="Arial"/>
                <a:cs typeface="Arial"/>
                <a:sym typeface="Arial"/>
              </a:rPr>
              <a:t>Mobile App:</a:t>
            </a:r>
            <a:r>
              <a:rPr b="1" i="0" lang="en-US" sz="3370" u="none" cap="none" strike="noStrike">
                <a:solidFill>
                  <a:srgbClr val="000000"/>
                </a:solidFill>
                <a:latin typeface="Arial"/>
                <a:ea typeface="Arial"/>
                <a:cs typeface="Arial"/>
                <a:sym typeface="Arial"/>
              </a:rPr>
              <a:t> Real-time bin status alerts for users and collectors.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4. </a:t>
            </a:r>
            <a:r>
              <a:rPr b="1" i="0" lang="en-US" sz="3370" u="sng" cap="none" strike="noStrike">
                <a:solidFill>
                  <a:srgbClr val="000000"/>
                </a:solidFill>
                <a:latin typeface="Arial"/>
                <a:ea typeface="Arial"/>
                <a:cs typeface="Arial"/>
                <a:sym typeface="Arial"/>
              </a:rPr>
              <a:t>Route Optimization:</a:t>
            </a:r>
            <a:r>
              <a:rPr b="1" i="0" lang="en-US" sz="3370" u="none" cap="none" strike="noStrike">
                <a:solidFill>
                  <a:srgbClr val="000000"/>
                </a:solidFill>
                <a:latin typeface="Arial"/>
                <a:ea typeface="Arial"/>
                <a:cs typeface="Arial"/>
                <a:sym typeface="Arial"/>
              </a:rPr>
              <a:t> Dynamic collection routes based on bin fill levels.</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5.</a:t>
            </a:r>
            <a:r>
              <a:rPr b="1" i="0" lang="en-US" sz="3370" u="sng" cap="none" strike="noStrike">
                <a:solidFill>
                  <a:srgbClr val="000000"/>
                </a:solidFill>
                <a:latin typeface="Arial"/>
                <a:ea typeface="Arial"/>
                <a:cs typeface="Arial"/>
                <a:sym typeface="Arial"/>
              </a:rPr>
              <a:t>Durable Design:</a:t>
            </a:r>
            <a:r>
              <a:rPr b="1" i="0" lang="en-US" sz="3370" u="none" cap="none" strike="noStrike">
                <a:solidFill>
                  <a:srgbClr val="000000"/>
                </a:solidFill>
                <a:latin typeface="Arial"/>
                <a:ea typeface="Arial"/>
                <a:cs typeface="Arial"/>
                <a:sym typeface="Arial"/>
              </a:rPr>
              <a:t> Weatherproof enclosures for outdoor use.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6.</a:t>
            </a:r>
            <a:r>
              <a:rPr b="1" i="0" lang="en-US" sz="3370" u="sng" cap="none" strike="noStrike">
                <a:solidFill>
                  <a:srgbClr val="000000"/>
                </a:solidFill>
                <a:latin typeface="Arial"/>
                <a:ea typeface="Arial"/>
                <a:cs typeface="Arial"/>
                <a:sym typeface="Arial"/>
              </a:rPr>
              <a:t> Accessibility: </a:t>
            </a:r>
            <a:r>
              <a:rPr b="1" i="0" lang="en-US" sz="3370" u="none" cap="none" strike="noStrike">
                <a:solidFill>
                  <a:srgbClr val="000000"/>
                </a:solidFill>
                <a:latin typeface="Arial"/>
                <a:ea typeface="Arial"/>
                <a:cs typeface="Arial"/>
                <a:sym typeface="Arial"/>
              </a:rPr>
              <a:t>Audio prompts and LED signals for user assistance. </a:t>
            </a:r>
            <a:endParaRPr/>
          </a:p>
          <a:p>
            <a:pPr indent="0" lvl="0" marL="0" marR="0" rtl="0" algn="l">
              <a:lnSpc>
                <a:spcPct val="140029"/>
              </a:lnSpc>
              <a:spcBef>
                <a:spcPts val="0"/>
              </a:spcBef>
              <a:spcAft>
                <a:spcPts val="0"/>
              </a:spcAft>
              <a:buNone/>
            </a:pPr>
            <a:r>
              <a:t/>
            </a:r>
            <a:endParaRPr b="1" i="0" sz="3370" u="none" cap="none" strike="noStrike">
              <a:solidFill>
                <a:srgbClr val="000000"/>
              </a:solidFill>
              <a:latin typeface="Arial"/>
              <a:ea typeface="Arial"/>
              <a:cs typeface="Arial"/>
              <a:sym typeface="Arial"/>
            </a:endParaRPr>
          </a:p>
          <a:p>
            <a:pPr indent="0" lvl="0" marL="0" marR="0" rtl="0" algn="l">
              <a:lnSpc>
                <a:spcPct val="140029"/>
              </a:lnSpc>
              <a:spcBef>
                <a:spcPts val="0"/>
              </a:spcBef>
              <a:spcAft>
                <a:spcPts val="0"/>
              </a:spcAft>
              <a:buNone/>
            </a:pPr>
            <a:r>
              <a:rPr b="1" i="0" lang="en-US" sz="3370" u="none" cap="none" strike="noStrike">
                <a:solidFill>
                  <a:srgbClr val="000000"/>
                </a:solidFill>
                <a:latin typeface="Arial"/>
                <a:ea typeface="Arial"/>
                <a:cs typeface="Arial"/>
                <a:sym typeface="Arial"/>
              </a:rPr>
              <a:t>7. </a:t>
            </a:r>
            <a:r>
              <a:rPr b="1" i="0" lang="en-US" sz="3370" u="sng" cap="none" strike="noStrike">
                <a:solidFill>
                  <a:srgbClr val="000000"/>
                </a:solidFill>
                <a:latin typeface="Arial"/>
                <a:ea typeface="Arial"/>
                <a:cs typeface="Arial"/>
                <a:sym typeface="Arial"/>
              </a:rPr>
              <a:t>Multi-bin Sorting: </a:t>
            </a:r>
            <a:r>
              <a:rPr b="1" i="0" lang="en-US" sz="3370" u="none" cap="none" strike="noStrike">
                <a:solidFill>
                  <a:srgbClr val="000000"/>
                </a:solidFill>
                <a:latin typeface="Arial"/>
                <a:ea typeface="Arial"/>
                <a:cs typeface="Arial"/>
                <a:sym typeface="Arial"/>
              </a:rPr>
              <a:t>Automatic waste sorting at disposal points.</a:t>
            </a:r>
            <a:endParaRPr/>
          </a:p>
        </p:txBody>
      </p:sp>
      <p:grpSp>
        <p:nvGrpSpPr>
          <p:cNvPr id="231" name="Google Shape;231;p17"/>
          <p:cNvGrpSpPr/>
          <p:nvPr/>
        </p:nvGrpSpPr>
        <p:grpSpPr>
          <a:xfrm>
            <a:off x="16252705" y="7265528"/>
            <a:ext cx="4765507" cy="4865433"/>
            <a:chOff x="0" y="-2624"/>
            <a:chExt cx="572235" cy="584234"/>
          </a:xfrm>
        </p:grpSpPr>
        <p:sp>
          <p:nvSpPr>
            <p:cNvPr id="232" name="Google Shape;232;p17"/>
            <p:cNvSpPr/>
            <p:nvPr/>
          </p:nvSpPr>
          <p:spPr>
            <a:xfrm>
              <a:off x="0" y="0"/>
              <a:ext cx="572235" cy="581610"/>
            </a:xfrm>
            <a:custGeom>
              <a:rect b="b" l="l" r="r" t="t"/>
              <a:pathLst>
                <a:path extrusionOk="0" h="581610" w="572235">
                  <a:moveTo>
                    <a:pt x="286118" y="0"/>
                  </a:moveTo>
                  <a:cubicBezTo>
                    <a:pt x="128099" y="0"/>
                    <a:pt x="0" y="130198"/>
                    <a:pt x="0" y="290805"/>
                  </a:cubicBezTo>
                  <a:cubicBezTo>
                    <a:pt x="0" y="451412"/>
                    <a:pt x="128099" y="581610"/>
                    <a:pt x="286118" y="581610"/>
                  </a:cubicBezTo>
                  <a:cubicBezTo>
                    <a:pt x="444136" y="581610"/>
                    <a:pt x="572235" y="451412"/>
                    <a:pt x="572235" y="290805"/>
                  </a:cubicBezTo>
                  <a:cubicBezTo>
                    <a:pt x="572235" y="130198"/>
                    <a:pt x="444136" y="0"/>
                    <a:pt x="286118"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
            <p:cNvSpPr txBox="1"/>
            <p:nvPr/>
          </p:nvSpPr>
          <p:spPr>
            <a:xfrm>
              <a:off x="53647" y="-2624"/>
              <a:ext cx="464941" cy="529708"/>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37" name="Shape 237"/>
        <p:cNvGrpSpPr/>
        <p:nvPr/>
      </p:nvGrpSpPr>
      <p:grpSpPr>
        <a:xfrm>
          <a:off x="0" y="0"/>
          <a:ext cx="0" cy="0"/>
          <a:chOff x="0" y="0"/>
          <a:chExt cx="0" cy="0"/>
        </a:xfrm>
      </p:grpSpPr>
      <p:sp>
        <p:nvSpPr>
          <p:cNvPr id="238" name="Google Shape;238;p18"/>
          <p:cNvSpPr txBox="1"/>
          <p:nvPr/>
        </p:nvSpPr>
        <p:spPr>
          <a:xfrm>
            <a:off x="3870578" y="382270"/>
            <a:ext cx="10884917" cy="11785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7000" u="none" cap="none" strike="noStrike">
                <a:solidFill>
                  <a:srgbClr val="134E1A"/>
                </a:solidFill>
                <a:latin typeface="Arial"/>
                <a:ea typeface="Arial"/>
                <a:cs typeface="Arial"/>
                <a:sym typeface="Arial"/>
              </a:rPr>
              <a:t>References</a:t>
            </a:r>
            <a:endParaRPr/>
          </a:p>
        </p:txBody>
      </p:sp>
      <p:sp>
        <p:nvSpPr>
          <p:cNvPr id="239" name="Google Shape;239;p18"/>
          <p:cNvSpPr txBox="1"/>
          <p:nvPr/>
        </p:nvSpPr>
        <p:spPr>
          <a:xfrm>
            <a:off x="2360167" y="1943553"/>
            <a:ext cx="13905741" cy="6323695"/>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1" i="0" lang="en-US" sz="4027" u="none" cap="none" strike="noStrike">
                <a:solidFill>
                  <a:srgbClr val="000000"/>
                </a:solidFill>
                <a:latin typeface="Arial"/>
                <a:ea typeface="Arial"/>
                <a:cs typeface="Arial"/>
                <a:sym typeface="Arial"/>
              </a:rPr>
              <a:t>• Arduino Uno Datasheet. </a:t>
            </a:r>
            <a:endParaRPr/>
          </a:p>
          <a:p>
            <a:pPr indent="0" lvl="0" marL="0" marR="0" rtl="0" algn="l">
              <a:lnSpc>
                <a:spcPct val="139980"/>
              </a:lnSpc>
              <a:spcBef>
                <a:spcPts val="0"/>
              </a:spcBef>
              <a:spcAft>
                <a:spcPts val="0"/>
              </a:spcAft>
              <a:buNone/>
            </a:pPr>
            <a:r>
              <a:t/>
            </a:r>
            <a:endParaRPr b="1" i="0" sz="4027" u="none" cap="none" strike="noStrike">
              <a:solidFill>
                <a:srgbClr val="000000"/>
              </a:solidFill>
              <a:latin typeface="Arial"/>
              <a:ea typeface="Arial"/>
              <a:cs typeface="Arial"/>
              <a:sym typeface="Arial"/>
            </a:endParaRPr>
          </a:p>
          <a:p>
            <a:pPr indent="0" lvl="0" marL="0" marR="0" rtl="0" algn="l">
              <a:lnSpc>
                <a:spcPct val="139980"/>
              </a:lnSpc>
              <a:spcBef>
                <a:spcPts val="0"/>
              </a:spcBef>
              <a:spcAft>
                <a:spcPts val="0"/>
              </a:spcAft>
              <a:buNone/>
            </a:pPr>
            <a:r>
              <a:rPr b="1" i="0" lang="en-US" sz="4027" u="none" cap="none" strike="noStrike">
                <a:solidFill>
                  <a:srgbClr val="000000"/>
                </a:solidFill>
                <a:latin typeface="Arial"/>
                <a:ea typeface="Arial"/>
                <a:cs typeface="Arial"/>
                <a:sym typeface="Arial"/>
              </a:rPr>
              <a:t>• HC-SR04 Ultrasonic Sensor Manual. </a:t>
            </a:r>
            <a:endParaRPr/>
          </a:p>
          <a:p>
            <a:pPr indent="0" lvl="0" marL="0" marR="0" rtl="0" algn="l">
              <a:lnSpc>
                <a:spcPct val="139980"/>
              </a:lnSpc>
              <a:spcBef>
                <a:spcPts val="0"/>
              </a:spcBef>
              <a:spcAft>
                <a:spcPts val="0"/>
              </a:spcAft>
              <a:buNone/>
            </a:pPr>
            <a:r>
              <a:t/>
            </a:r>
            <a:endParaRPr b="1" i="0" sz="4027" u="none" cap="none" strike="noStrike">
              <a:solidFill>
                <a:srgbClr val="000000"/>
              </a:solidFill>
              <a:latin typeface="Arial"/>
              <a:ea typeface="Arial"/>
              <a:cs typeface="Arial"/>
              <a:sym typeface="Arial"/>
            </a:endParaRPr>
          </a:p>
          <a:p>
            <a:pPr indent="0" lvl="0" marL="0" marR="0" rtl="0" algn="l">
              <a:lnSpc>
                <a:spcPct val="139980"/>
              </a:lnSpc>
              <a:spcBef>
                <a:spcPts val="0"/>
              </a:spcBef>
              <a:spcAft>
                <a:spcPts val="0"/>
              </a:spcAft>
              <a:buNone/>
            </a:pPr>
            <a:r>
              <a:rPr b="1" i="0" lang="en-US" sz="4027" u="none" cap="none" strike="noStrike">
                <a:solidFill>
                  <a:srgbClr val="000000"/>
                </a:solidFill>
                <a:latin typeface="Arial"/>
                <a:ea typeface="Arial"/>
                <a:cs typeface="Arial"/>
                <a:sym typeface="Arial"/>
              </a:rPr>
              <a:t>• ThingSpeak IoT Cloud Documentation. </a:t>
            </a:r>
            <a:endParaRPr/>
          </a:p>
          <a:p>
            <a:pPr indent="0" lvl="0" marL="0" marR="0" rtl="0" algn="l">
              <a:lnSpc>
                <a:spcPct val="139980"/>
              </a:lnSpc>
              <a:spcBef>
                <a:spcPts val="0"/>
              </a:spcBef>
              <a:spcAft>
                <a:spcPts val="0"/>
              </a:spcAft>
              <a:buNone/>
            </a:pPr>
            <a:r>
              <a:t/>
            </a:r>
            <a:endParaRPr b="1" i="0" sz="4027" u="none" cap="none" strike="noStrike">
              <a:solidFill>
                <a:srgbClr val="000000"/>
              </a:solidFill>
              <a:latin typeface="Arial"/>
              <a:ea typeface="Arial"/>
              <a:cs typeface="Arial"/>
              <a:sym typeface="Arial"/>
            </a:endParaRPr>
          </a:p>
          <a:p>
            <a:pPr indent="0" lvl="0" marL="0" marR="0" rtl="0" algn="l">
              <a:lnSpc>
                <a:spcPct val="139980"/>
              </a:lnSpc>
              <a:spcBef>
                <a:spcPts val="0"/>
              </a:spcBef>
              <a:spcAft>
                <a:spcPts val="0"/>
              </a:spcAft>
              <a:buNone/>
            </a:pPr>
            <a:r>
              <a:rPr b="1" i="0" lang="en-US" sz="4027" u="none" cap="none" strike="noStrike">
                <a:solidFill>
                  <a:srgbClr val="000000"/>
                </a:solidFill>
                <a:latin typeface="Arial"/>
                <a:ea typeface="Arial"/>
                <a:cs typeface="Arial"/>
                <a:sym typeface="Arial"/>
              </a:rPr>
              <a:t>• Research on Smart Waste Bins using IoT – IJERT, 2023. </a:t>
            </a:r>
            <a:endParaRPr/>
          </a:p>
          <a:p>
            <a:pPr indent="0" lvl="0" marL="0" marR="0" rtl="0" algn="l">
              <a:lnSpc>
                <a:spcPct val="139980"/>
              </a:lnSpc>
              <a:spcBef>
                <a:spcPts val="0"/>
              </a:spcBef>
              <a:spcAft>
                <a:spcPts val="0"/>
              </a:spcAft>
              <a:buNone/>
            </a:pPr>
            <a:r>
              <a:t/>
            </a:r>
            <a:endParaRPr b="1" i="0" sz="4027" u="none" cap="none" strike="noStrike">
              <a:solidFill>
                <a:srgbClr val="000000"/>
              </a:solidFill>
              <a:latin typeface="Arial"/>
              <a:ea typeface="Arial"/>
              <a:cs typeface="Arial"/>
              <a:sym typeface="Arial"/>
            </a:endParaRPr>
          </a:p>
          <a:p>
            <a:pPr indent="0" lvl="0" marL="0" marR="0" rtl="0" algn="l">
              <a:lnSpc>
                <a:spcPct val="139980"/>
              </a:lnSpc>
              <a:spcBef>
                <a:spcPts val="0"/>
              </a:spcBef>
              <a:spcAft>
                <a:spcPts val="0"/>
              </a:spcAft>
              <a:buNone/>
            </a:pPr>
            <a:r>
              <a:rPr b="1" i="0" lang="en-US" sz="4027" u="none" cap="none" strike="noStrike">
                <a:solidFill>
                  <a:srgbClr val="000000"/>
                </a:solidFill>
                <a:latin typeface="Arial"/>
                <a:ea typeface="Arial"/>
                <a:cs typeface="Arial"/>
                <a:sym typeface="Arial"/>
              </a:rPr>
              <a:t>• Smart Waste Monitoring Systems – IEEE Xplore, 2022. </a:t>
            </a:r>
            <a:endParaRPr/>
          </a:p>
        </p:txBody>
      </p:sp>
      <p:grpSp>
        <p:nvGrpSpPr>
          <p:cNvPr id="240" name="Google Shape;240;p18"/>
          <p:cNvGrpSpPr/>
          <p:nvPr/>
        </p:nvGrpSpPr>
        <p:grpSpPr>
          <a:xfrm>
            <a:off x="16252705" y="7265528"/>
            <a:ext cx="4765507" cy="4865433"/>
            <a:chOff x="0" y="-2624"/>
            <a:chExt cx="572235" cy="584234"/>
          </a:xfrm>
        </p:grpSpPr>
        <p:sp>
          <p:nvSpPr>
            <p:cNvPr id="241" name="Google Shape;241;p18"/>
            <p:cNvSpPr/>
            <p:nvPr/>
          </p:nvSpPr>
          <p:spPr>
            <a:xfrm>
              <a:off x="0" y="0"/>
              <a:ext cx="572235" cy="581610"/>
            </a:xfrm>
            <a:custGeom>
              <a:rect b="b" l="l" r="r" t="t"/>
              <a:pathLst>
                <a:path extrusionOk="0" h="581610" w="572235">
                  <a:moveTo>
                    <a:pt x="286118" y="0"/>
                  </a:moveTo>
                  <a:cubicBezTo>
                    <a:pt x="128099" y="0"/>
                    <a:pt x="0" y="130198"/>
                    <a:pt x="0" y="290805"/>
                  </a:cubicBezTo>
                  <a:cubicBezTo>
                    <a:pt x="0" y="451412"/>
                    <a:pt x="128099" y="581610"/>
                    <a:pt x="286118" y="581610"/>
                  </a:cubicBezTo>
                  <a:cubicBezTo>
                    <a:pt x="444136" y="581610"/>
                    <a:pt x="572235" y="451412"/>
                    <a:pt x="572235" y="290805"/>
                  </a:cubicBezTo>
                  <a:cubicBezTo>
                    <a:pt x="572235" y="130198"/>
                    <a:pt x="444136" y="0"/>
                    <a:pt x="286118" y="0"/>
                  </a:cubicBezTo>
                  <a:close/>
                </a:path>
              </a:pathLst>
            </a:custGeom>
            <a:solidFill>
              <a:srgbClr val="F5F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8"/>
            <p:cNvSpPr txBox="1"/>
            <p:nvPr/>
          </p:nvSpPr>
          <p:spPr>
            <a:xfrm>
              <a:off x="53647" y="-2624"/>
              <a:ext cx="464941" cy="529708"/>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4E1A"/>
        </a:solidFill>
      </p:bgPr>
    </p:bg>
    <p:spTree>
      <p:nvGrpSpPr>
        <p:cNvPr id="246" name="Shape 246"/>
        <p:cNvGrpSpPr/>
        <p:nvPr/>
      </p:nvGrpSpPr>
      <p:grpSpPr>
        <a:xfrm>
          <a:off x="0" y="0"/>
          <a:ext cx="0" cy="0"/>
          <a:chOff x="0" y="0"/>
          <a:chExt cx="0" cy="0"/>
        </a:xfrm>
      </p:grpSpPr>
      <p:grpSp>
        <p:nvGrpSpPr>
          <p:cNvPr id="247" name="Google Shape;247;p19"/>
          <p:cNvGrpSpPr/>
          <p:nvPr/>
        </p:nvGrpSpPr>
        <p:grpSpPr>
          <a:xfrm>
            <a:off x="0" y="3443156"/>
            <a:ext cx="18288000" cy="3219861"/>
            <a:chOff x="0" y="-47625"/>
            <a:chExt cx="4816593" cy="848029"/>
          </a:xfrm>
        </p:grpSpPr>
        <p:sp>
          <p:nvSpPr>
            <p:cNvPr id="248" name="Google Shape;248;p19"/>
            <p:cNvSpPr/>
            <p:nvPr/>
          </p:nvSpPr>
          <p:spPr>
            <a:xfrm>
              <a:off x="0" y="0"/>
              <a:ext cx="4816592" cy="800404"/>
            </a:xfrm>
            <a:custGeom>
              <a:rect b="b" l="l" r="r" t="t"/>
              <a:pathLst>
                <a:path extrusionOk="0" h="800404" w="4816592">
                  <a:moveTo>
                    <a:pt x="0" y="0"/>
                  </a:moveTo>
                  <a:lnTo>
                    <a:pt x="4816592" y="0"/>
                  </a:lnTo>
                  <a:lnTo>
                    <a:pt x="4816592" y="800404"/>
                  </a:lnTo>
                  <a:lnTo>
                    <a:pt x="0" y="800404"/>
                  </a:lnTo>
                  <a:close/>
                </a:path>
              </a:pathLst>
            </a:custGeom>
            <a:solidFill>
              <a:srgbClr val="577550"/>
            </a:solidFill>
            <a:ln>
              <a:noFill/>
            </a:ln>
          </p:spPr>
        </p:sp>
        <p:sp>
          <p:nvSpPr>
            <p:cNvPr id="249" name="Google Shape;249;p19"/>
            <p:cNvSpPr txBox="1"/>
            <p:nvPr/>
          </p:nvSpPr>
          <p:spPr>
            <a:xfrm>
              <a:off x="0" y="-47625"/>
              <a:ext cx="4816593" cy="848029"/>
            </a:xfrm>
            <a:prstGeom prst="rect">
              <a:avLst/>
            </a:prstGeom>
            <a:noFill/>
            <a:ln>
              <a:noFill/>
            </a:ln>
          </p:spPr>
          <p:txBody>
            <a:bodyPr anchorCtr="0" anchor="ctr" bIns="50800" lIns="50800" spcFirstLastPara="1" rIns="50800" wrap="square" tIns="50800">
              <a:noAutofit/>
            </a:bodyPr>
            <a:lstStyle/>
            <a:p>
              <a:pPr indent="0" lvl="0" marL="0" marR="0" rtl="0" algn="ctr">
                <a:lnSpc>
                  <a:spcPct val="19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19"/>
          <p:cNvSpPr txBox="1"/>
          <p:nvPr/>
        </p:nvSpPr>
        <p:spPr>
          <a:xfrm>
            <a:off x="2434007" y="3769883"/>
            <a:ext cx="13419987" cy="2447093"/>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0" i="0" lang="en-US" sz="14282" u="none" cap="none" strike="noStrike">
                <a:solidFill>
                  <a:srgbClr val="FFFFFF"/>
                </a:solidFill>
                <a:latin typeface="Archivo Black"/>
                <a:ea typeface="Archivo Black"/>
                <a:cs typeface="Archivo Black"/>
                <a:sym typeface="Archivo Black"/>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